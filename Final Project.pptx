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</p:sldMasterIdLst>
  <p:notesMasterIdLst>
    <p:notesMasterId r:id="rId6"/>
  </p:notesMasterIdLst>
  <p:sldIdLst>
    <p:sldId id="256" r:id="rId4"/>
    <p:sldId id="257" r:id="rId5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18288000" cy="10287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lnSpc>
                <a:spcPct val="100000"/>
              </a:lnSpc>
              <a:defRPr sz="12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等线" panose="02010600030101010101" charset="-122"/>
              </a:rPr>
              <a:t>单击此处添加文本</a:t>
            </a:r>
            <a:endParaRPr lang="en-US" sz="1200" b="0" i="0" u="none" strike="noStrike">
              <a:solidFill>
                <a:srgbClr val="000000"/>
              </a:solidFill>
              <a:latin typeface="等线" panose="02010600030101010101" charset="-122"/>
              <a:ea typeface="等线" panose="02010600030101010101" charset="-122"/>
              <a:cs typeface="等线" panose="02010600030101010101" charset="-122"/>
              <a:sym typeface="等线" panose="02010600030101010101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lnSpc>
                <a:spcPct val="100000"/>
              </a:lnSpc>
              <a:defRPr sz="12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等线" panose="02010600030101010101" charset="-122"/>
              </a:rPr>
              <a:t>单击此处添加文本</a:t>
            </a:r>
            <a:endParaRPr lang="en-US" sz="1200" b="0" i="0" u="none" strike="noStrike">
              <a:solidFill>
                <a:srgbClr val="000000"/>
              </a:solidFill>
              <a:latin typeface="等线" panose="02010600030101010101" charset="-122"/>
              <a:ea typeface="等线" panose="02010600030101010101" charset="-122"/>
              <a:cs typeface="等线" panose="02010600030101010101" charset="-122"/>
              <a:sym typeface="等线" panose="02010600030101010101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lnSpc>
                <a:spcPct val="100000"/>
              </a:lnSpc>
              <a:defRPr sz="12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等线" panose="02010600030101010101" charset="-122"/>
              </a:rPr>
              <a:t>单击此处添加文本</a:t>
            </a:r>
            <a:endParaRPr lang="en-US" sz="1200" b="0" i="0" u="none" strike="noStrike">
              <a:solidFill>
                <a:srgbClr val="000000"/>
              </a:solidFill>
              <a:latin typeface="等线" panose="02010600030101010101" charset="-122"/>
              <a:ea typeface="等线" panose="02010600030101010101" charset="-122"/>
              <a:cs typeface="等线" panose="02010600030101010101" charset="-122"/>
              <a:sym typeface="等线" panose="02010600030101010101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lnSpc>
                <a:spcPct val="100000"/>
              </a:lnSpc>
              <a:defRPr sz="12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等线" panose="02010600030101010101" charset="-122"/>
              </a:rPr>
              <a:t>单击此处添加文本</a:t>
            </a:r>
            <a:endParaRPr lang="en-US" sz="1200" b="0" i="0" u="none" strike="noStrike">
              <a:solidFill>
                <a:srgbClr val="000000"/>
              </a:solidFill>
              <a:latin typeface="等线" panose="02010600030101010101" charset="-122"/>
              <a:ea typeface="等线" panose="02010600030101010101" charset="-122"/>
              <a:cs typeface="等线" panose="02010600030101010101" charset="-122"/>
              <a:sym typeface="等线" panose="02010600030101010101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lnSpc>
                <a:spcPct val="100000"/>
              </a:lnSpc>
              <a:defRPr sz="12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等线" panose="02010600030101010101" charset="-122"/>
              </a:rPr>
              <a:t>单击此处添加文本</a:t>
            </a:r>
            <a:endParaRPr lang="en-US" sz="1200" b="0" i="0" u="none" strike="noStrike">
              <a:solidFill>
                <a:srgbClr val="000000"/>
              </a:solidFill>
              <a:latin typeface="等线" panose="02010600030101010101" charset="-122"/>
              <a:ea typeface="等线" panose="02010600030101010101" charset="-122"/>
              <a:cs typeface="等线" panose="02010600030101010101" charset="-122"/>
              <a:sym typeface="等线" panose="02010600030101010101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lnSpc>
                <a:spcPct val="100000"/>
              </a:lnSpc>
              <a:defRPr sz="12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等线" panose="02010600030101010101" charset="-122"/>
              </a:rPr>
              <a:t>单击此处添加文本</a:t>
            </a:r>
            <a:endParaRPr lang="en-US" sz="1200" b="0" i="0" u="none" strike="noStrike">
              <a:solidFill>
                <a:srgbClr val="000000"/>
              </a:solidFill>
              <a:latin typeface="等线" panose="02010600030101010101" charset="-122"/>
              <a:ea typeface="等线" panose="02010600030101010101" charset="-122"/>
              <a:cs typeface="等线" panose="02010600030101010101" charset="-122"/>
              <a:sym typeface="等线" panose="02010600030101010101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lnSpc>
                <a:spcPct val="100000"/>
              </a:lnSpc>
              <a:defRPr sz="12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等线" panose="02010600030101010101" charset="-122"/>
              </a:rPr>
              <a:t>单击此处添加文本</a:t>
            </a:r>
            <a:endParaRPr lang="en-US" sz="1200" b="0" i="0" u="none" strike="noStrike">
              <a:solidFill>
                <a:srgbClr val="000000"/>
              </a:solidFill>
              <a:latin typeface="等线" panose="02010600030101010101" charset="-122"/>
              <a:ea typeface="等线" panose="02010600030101010101" charset="-122"/>
              <a:cs typeface="等线" panose="02010600030101010101" charset="-122"/>
              <a:sym typeface="等线" panose="02010600030101010101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lnSpc>
                <a:spcPct val="100000"/>
              </a:lnSpc>
              <a:defRPr sz="12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等线" panose="02010600030101010101" charset="-122"/>
              </a:rPr>
              <a:t>单击此处添加文本</a:t>
            </a:r>
            <a:endParaRPr lang="en-US" sz="1200" b="0" i="0" u="none" strike="noStrike">
              <a:solidFill>
                <a:srgbClr val="000000"/>
              </a:solidFill>
              <a:latin typeface="等线" panose="02010600030101010101" charset="-122"/>
              <a:ea typeface="等线" panose="02010600030101010101" charset="-122"/>
              <a:cs typeface="等线" panose="02010600030101010101" charset="-122"/>
              <a:sym typeface="等线" panose="02010600030101010101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lnSpc>
                <a:spcPct val="100000"/>
              </a:lnSpc>
              <a:defRPr sz="12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等线" panose="02010600030101010101" charset="-122"/>
              </a:rPr>
              <a:t>单击此处添加文本</a:t>
            </a:r>
            <a:endParaRPr lang="en-US" sz="1200" b="0" i="0" u="none" strike="noStrike">
              <a:solidFill>
                <a:srgbClr val="000000"/>
              </a:solidFill>
              <a:latin typeface="等线" panose="02010600030101010101" charset="-122"/>
              <a:ea typeface="等线" panose="02010600030101010101" charset="-122"/>
              <a:cs typeface="等线" panose="02010600030101010101" charset="-122"/>
              <a:sym typeface="等线" panose="02010600030101010101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lnSpc>
                <a:spcPct val="100000"/>
              </a:lnSpc>
              <a:defRPr sz="12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等线" panose="02010600030101010101" charset="-122"/>
              </a:rPr>
              <a:t>单击此处添加文本</a:t>
            </a:r>
            <a:endParaRPr lang="en-US" sz="1200" b="0" i="0" u="none" strike="noStrike">
              <a:solidFill>
                <a:srgbClr val="000000"/>
              </a:solidFill>
              <a:latin typeface="等线" panose="02010600030101010101" charset="-122"/>
              <a:ea typeface="等线" panose="02010600030101010101" charset="-122"/>
              <a:cs typeface="等线" panose="02010600030101010101" charset="-122"/>
              <a:sym typeface="等线" panose="02010600030101010101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lnSpc>
                <a:spcPct val="100000"/>
              </a:lnSpc>
              <a:defRPr sz="12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等线" panose="02010600030101010101" charset="-122"/>
              </a:rPr>
              <a:t>单击此处添加文本</a:t>
            </a:r>
            <a:endParaRPr lang="en-US" sz="1200" b="0" i="0" u="none" strike="noStrike">
              <a:solidFill>
                <a:srgbClr val="000000"/>
              </a:solidFill>
              <a:latin typeface="等线" panose="02010600030101010101" charset="-122"/>
              <a:ea typeface="等线" panose="02010600030101010101" charset="-122"/>
              <a:cs typeface="等线" panose="02010600030101010101" charset="-122"/>
              <a:sym typeface="等线" panose="02010600030101010101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lnSpc>
                <a:spcPct val="100000"/>
              </a:lnSpc>
              <a:defRPr sz="12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 panose="02010600030101010101" charset="-122"/>
                <a:ea typeface="等线" panose="02010600030101010101" charset="-122"/>
                <a:cs typeface="等线" panose="02010600030101010101" charset="-122"/>
                <a:sym typeface="等线" panose="02010600030101010101" charset="-122"/>
              </a:rPr>
              <a:t>单击此处添加文本</a:t>
            </a:r>
            <a:endParaRPr lang="en-US" sz="1200" b="0" i="0" u="none" strike="noStrike">
              <a:solidFill>
                <a:srgbClr val="000000"/>
              </a:solidFill>
              <a:latin typeface="等线" panose="02010600030101010101" charset="-122"/>
              <a:ea typeface="等线" panose="02010600030101010101" charset="-122"/>
              <a:cs typeface="等线" panose="02010600030101010101" charset="-122"/>
              <a:sym typeface="等线" panose="02010600030101010101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6" hasCustomPrompt="1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ctr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ctr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title style</a:t>
            </a:r>
            <a:endParaRPr lang="en-US" sz="44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AutoShape 3"/>
          <p:cNvSpPr/>
          <p:nvPr>
            <p:ph type="body" sz="quarter" idx="7" hasCustomPrompt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t"/>
          <a:lstStyle>
            <a:lvl1pPr algn="ctr">
              <a:lnSpc>
                <a:spcPct val="100000"/>
              </a:lnSpc>
              <a:defRPr sz="3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ctr">
              <a:lnSpc>
                <a:spcPct val="100000"/>
              </a:lnSpc>
            </a:pPr>
            <a:r>
              <a:rPr lang="en-US" sz="3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subtitle style</a:t>
            </a:r>
            <a:endParaRPr lang="en-US" sz="3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" name="AutoShape 4"/>
          <p:cNvSpPr/>
          <p:nvPr>
            <p:ph type="body" sz="quarter" idx="8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l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7/22/2025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5" name="AutoShape 5"/>
          <p:cNvSpPr/>
          <p:nvPr>
            <p:ph type="body" sz="quarter" idx="9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lIns="91440" tIns="45720" rIns="91440" bIns="45720" anchor="ctr"/>
          <a:lstStyle>
            <a:lvl1pPr algn="ctr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indent="0" algn="ct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页脚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6" name="AutoShape 6"/>
          <p:cNvSpPr/>
          <p:nvPr>
            <p:ph type="body" sz="quarter" idx="10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r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‹#›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1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ctr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ctr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title style</a:t>
            </a:r>
            <a:endParaRPr lang="en-US" sz="44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AutoShape 3"/>
          <p:cNvSpPr/>
          <p:nvPr>
            <p:ph type="body" sz="quarter" idx="12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t"/>
          <a:lstStyle>
            <a:lvl1pPr algn="l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marL="406400" indent="-4064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text styles</a:t>
            </a:r>
            <a:endParaRPr lang="en-US" sz="32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812800" lvl="1" indent="-3556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Second level</a:t>
            </a:r>
            <a:endParaRPr lang="en-US" sz="28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1219200" lvl="2" indent="-3048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Third level</a:t>
            </a:r>
            <a:endParaRPr lang="en-US" sz="24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1625600" lvl="3" indent="-2540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Fourth level</a:t>
            </a:r>
            <a:endParaRPr lang="en-US" sz="20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082800" lvl="4" indent="-2540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Fifth level</a:t>
            </a:r>
            <a:endParaRPr lang="en-US" sz="20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" name="AutoShape 4"/>
          <p:cNvSpPr/>
          <p:nvPr>
            <p:ph type="body" sz="quarter" idx="13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l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7/22/2025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5" name="AutoShape 5"/>
          <p:cNvSpPr/>
          <p:nvPr>
            <p:ph type="body" sz="quarter" idx="14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lIns="91440" tIns="45720" rIns="91440" bIns="45720" anchor="ctr"/>
          <a:lstStyle>
            <a:lvl1pPr algn="ctr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indent="0" algn="ct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页脚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6" name="AutoShape 6"/>
          <p:cNvSpPr/>
          <p:nvPr>
            <p:ph type="body" sz="quarter" idx="15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r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‹#›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16" hasCustomPrompt="1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t"/>
          <a:lstStyle>
            <a:lvl1pPr algn="l">
              <a:lnSpc>
                <a:spcPct val="100000"/>
              </a:lnSpc>
              <a:defRPr sz="4000" b="1" i="0" u="none" strike="noStrike" spc="0">
                <a:solidFill>
                  <a:srgbClr val="000000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l">
              <a:lnSpc>
                <a:spcPct val="100000"/>
              </a:lnSpc>
            </a:pPr>
            <a:r>
              <a:rPr lang="en-US" sz="4000" b="1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title style</a:t>
            </a:r>
            <a:endParaRPr lang="en-US" sz="4000" b="1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AutoShape 3"/>
          <p:cNvSpPr/>
          <p:nvPr>
            <p:ph type="body" sz="quarter" idx="17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b"/>
          <a:lstStyle>
            <a:lvl1pPr algn="l">
              <a:lnSpc>
                <a:spcPct val="100000"/>
              </a:lnSpc>
              <a:defRPr sz="20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l">
              <a:lnSpc>
                <a:spcPct val="100000"/>
              </a:lnSpc>
            </a:pPr>
            <a:r>
              <a:rPr lang="en-US" sz="20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text styles</a:t>
            </a:r>
            <a:endParaRPr lang="en-US" sz="20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" name="AutoShape 4"/>
          <p:cNvSpPr/>
          <p:nvPr>
            <p:ph type="body" sz="quarter" idx="18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l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7/22/2025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5" name="AutoShape 5"/>
          <p:cNvSpPr/>
          <p:nvPr>
            <p:ph type="body" sz="quarter" idx="19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lIns="91440" tIns="45720" rIns="91440" bIns="45720" anchor="ctr"/>
          <a:lstStyle>
            <a:lvl1pPr algn="ctr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indent="0" algn="ct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页脚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6" name="AutoShape 6"/>
          <p:cNvSpPr/>
          <p:nvPr>
            <p:ph type="body" sz="quarter" idx="20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r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‹#›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2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ctr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ctr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title style</a:t>
            </a:r>
            <a:endParaRPr lang="en-US" sz="44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AutoShape 3"/>
          <p:cNvSpPr/>
          <p:nvPr>
            <p:ph type="body" sz="quarter" idx="22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t"/>
          <a:lstStyle>
            <a:lvl1pPr algn="l">
              <a:lnSpc>
                <a:spcPct val="100000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marL="355600" indent="-3556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text styles</a:t>
            </a:r>
            <a:endParaRPr lang="en-US" sz="28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762000" lvl="1" indent="-3048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Second level</a:t>
            </a:r>
            <a:endParaRPr lang="en-US" sz="24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1168400" lvl="2" indent="-2540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Third level</a:t>
            </a:r>
            <a:endParaRPr lang="en-US" sz="20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1600200" lvl="3" indent="-2286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Fourth level</a:t>
            </a:r>
            <a:endParaRPr lang="en-US" sz="18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057400" lvl="4" indent="-2286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Fifth level</a:t>
            </a:r>
            <a:endParaRPr lang="en-US" sz="18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" name="AutoShape 4"/>
          <p:cNvSpPr/>
          <p:nvPr>
            <p:ph type="body" sz="quarter" idx="23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t"/>
          <a:lstStyle>
            <a:lvl1pPr algn="l">
              <a:lnSpc>
                <a:spcPct val="100000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marL="355600" indent="-3556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text styles</a:t>
            </a:r>
            <a:endParaRPr lang="en-US" sz="28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762000" lvl="1" indent="-3048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Second level</a:t>
            </a:r>
            <a:endParaRPr lang="en-US" sz="24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1168400" lvl="2" indent="-2540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Third level</a:t>
            </a:r>
            <a:endParaRPr lang="en-US" sz="20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1600200" lvl="3" indent="-2286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Fourth level</a:t>
            </a:r>
            <a:endParaRPr lang="en-US" sz="18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057400" lvl="4" indent="-2286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Fifth level</a:t>
            </a:r>
            <a:endParaRPr lang="en-US" sz="18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5" name="AutoShape 5"/>
          <p:cNvSpPr/>
          <p:nvPr>
            <p:ph type="body" sz="quarter" idx="24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l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7/22/2025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6" name="AutoShape 6"/>
          <p:cNvSpPr/>
          <p:nvPr>
            <p:ph type="body" sz="quarter" idx="25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lIns="91440" tIns="45720" rIns="91440" bIns="45720" anchor="ctr"/>
          <a:lstStyle>
            <a:lvl1pPr algn="ctr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indent="0" algn="ct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页脚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" name="AutoShape 7"/>
          <p:cNvSpPr/>
          <p:nvPr>
            <p:ph type="body" sz="quarter" idx="26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r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‹#›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27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ctr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ctr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title style</a:t>
            </a:r>
            <a:endParaRPr lang="en-US" sz="44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AutoShape 3"/>
          <p:cNvSpPr/>
          <p:nvPr>
            <p:ph type="body" sz="quarter" idx="28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b"/>
          <a:lstStyle>
            <a:lvl1pPr algn="l">
              <a:lnSpc>
                <a:spcPct val="100000"/>
              </a:lnSpc>
              <a:defRPr sz="2400" b="1" i="0" u="none" strike="noStrike" spc="0">
                <a:solidFill>
                  <a:srgbClr val="000000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l">
              <a:lnSpc>
                <a:spcPct val="100000"/>
              </a:lnSpc>
            </a:pPr>
            <a:r>
              <a:rPr lang="en-US" sz="2400" b="1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text styles</a:t>
            </a:r>
            <a:endParaRPr lang="en-US" sz="2400" b="1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" name="AutoShape 4"/>
          <p:cNvSpPr/>
          <p:nvPr>
            <p:ph type="body" sz="quarter" idx="29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t"/>
          <a:lstStyle>
            <a:lvl1pPr algn="l">
              <a:lnSpc>
                <a:spcPct val="100000"/>
              </a:lnSpc>
              <a:defRPr sz="2400" b="0" i="0" u="none" strike="noStrike" spc="0">
                <a:solidFill>
                  <a:srgbClr val="000000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marL="304800" indent="-3048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text styles</a:t>
            </a:r>
            <a:endParaRPr lang="en-US" sz="24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711200" lvl="1" indent="-2540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Second level</a:t>
            </a:r>
            <a:endParaRPr lang="en-US" sz="20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1143000" lvl="2" indent="-2286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Third level</a:t>
            </a:r>
            <a:endParaRPr lang="en-US" sz="18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1574800" lvl="3" indent="-2032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16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Fourth level</a:t>
            </a:r>
            <a:endParaRPr lang="en-US" sz="16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032000" lvl="4" indent="-2032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16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Fifth level</a:t>
            </a:r>
            <a:endParaRPr lang="en-US" sz="16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5" name="AutoShape 5"/>
          <p:cNvSpPr/>
          <p:nvPr>
            <p:ph type="body" sz="quarter" idx="30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b"/>
          <a:lstStyle>
            <a:lvl1pPr algn="l">
              <a:lnSpc>
                <a:spcPct val="100000"/>
              </a:lnSpc>
              <a:defRPr sz="2400" b="1" i="0" u="none" strike="noStrike" spc="0">
                <a:solidFill>
                  <a:srgbClr val="000000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l">
              <a:lnSpc>
                <a:spcPct val="100000"/>
              </a:lnSpc>
            </a:pPr>
            <a:r>
              <a:rPr lang="en-US" sz="2400" b="1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text styles</a:t>
            </a:r>
            <a:endParaRPr lang="en-US" sz="2400" b="1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6" name="AutoShape 6"/>
          <p:cNvSpPr/>
          <p:nvPr>
            <p:ph type="body" sz="quarter" idx="31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t"/>
          <a:lstStyle>
            <a:lvl1pPr algn="l">
              <a:lnSpc>
                <a:spcPct val="100000"/>
              </a:lnSpc>
              <a:defRPr sz="2400" b="0" i="0" u="none" strike="noStrike" spc="0">
                <a:solidFill>
                  <a:srgbClr val="000000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marL="304800" indent="-3048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text styles</a:t>
            </a:r>
            <a:endParaRPr lang="en-US" sz="24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711200" lvl="1" indent="-2540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Second level</a:t>
            </a:r>
            <a:endParaRPr lang="en-US" sz="20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1143000" lvl="2" indent="-2286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Third level</a:t>
            </a:r>
            <a:endParaRPr lang="en-US" sz="18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1574800" lvl="3" indent="-2032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16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Fourth level</a:t>
            </a:r>
            <a:endParaRPr lang="en-US" sz="16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032000" lvl="4" indent="-2032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16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Fifth level</a:t>
            </a:r>
            <a:endParaRPr lang="en-US" sz="16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" name="AutoShape 7"/>
          <p:cNvSpPr/>
          <p:nvPr>
            <p:ph type="body" sz="quarter" idx="32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l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7/22/2025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" name="AutoShape 8"/>
          <p:cNvSpPr/>
          <p:nvPr>
            <p:ph type="body" sz="quarter" idx="33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lIns="91440" tIns="45720" rIns="91440" bIns="45720" anchor="ctr"/>
          <a:lstStyle>
            <a:lvl1pPr algn="ctr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indent="0" algn="ct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页脚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" name="AutoShape 9"/>
          <p:cNvSpPr/>
          <p:nvPr>
            <p:ph type="body" sz="quarter" idx="34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r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‹#›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35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ctr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ctr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title style</a:t>
            </a:r>
            <a:endParaRPr lang="en-US" sz="44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AutoShape 3"/>
          <p:cNvSpPr/>
          <p:nvPr>
            <p:ph type="body" sz="quarter" idx="36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l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7/22/2025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" name="AutoShape 4"/>
          <p:cNvSpPr/>
          <p:nvPr>
            <p:ph type="body" sz="quarter" idx="37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lIns="91440" tIns="45720" rIns="91440" bIns="45720" anchor="ctr"/>
          <a:lstStyle>
            <a:lvl1pPr algn="ctr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indent="0" algn="ct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页脚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5" name="AutoShape 5"/>
          <p:cNvSpPr/>
          <p:nvPr>
            <p:ph type="body" sz="quarter" idx="38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r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‹#›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39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l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7/22/2025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AutoShape 3"/>
          <p:cNvSpPr/>
          <p:nvPr>
            <p:ph type="body" sz="quarter" idx="40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lIns="91440" tIns="45720" rIns="91440" bIns="45720" anchor="ctr"/>
          <a:lstStyle>
            <a:lvl1pPr algn="ctr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indent="0" algn="ct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页脚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" name="AutoShape 4"/>
          <p:cNvSpPr/>
          <p:nvPr>
            <p:ph type="body" sz="quarter" idx="41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r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‹#›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42" hasCustomPrompt="1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b"/>
          <a:lstStyle>
            <a:lvl1pPr algn="l">
              <a:lnSpc>
                <a:spcPct val="100000"/>
              </a:lnSpc>
              <a:defRPr sz="2000" b="1" i="0" u="none" strike="noStrike" spc="0">
                <a:solidFill>
                  <a:srgbClr val="000000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l">
              <a:lnSpc>
                <a:spcPct val="100000"/>
              </a:lnSpc>
            </a:pPr>
            <a:r>
              <a:rPr lang="en-US" sz="2000" b="1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title style</a:t>
            </a:r>
            <a:endParaRPr lang="en-US" sz="2000" b="1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AutoShape 3"/>
          <p:cNvSpPr/>
          <p:nvPr>
            <p:ph type="body" sz="quarter" idx="43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t"/>
          <a:lstStyle>
            <a:lvl1pPr algn="l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marL="406400" indent="-4064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text styles</a:t>
            </a:r>
            <a:endParaRPr lang="en-US" sz="32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812800" lvl="1" indent="-3556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Second level</a:t>
            </a:r>
            <a:endParaRPr lang="en-US" sz="28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1219200" lvl="2" indent="-3048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Third level</a:t>
            </a:r>
            <a:endParaRPr lang="en-US" sz="24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1625600" lvl="3" indent="-2540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Fourth level</a:t>
            </a:r>
            <a:endParaRPr lang="en-US" sz="20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082800" lvl="4" indent="-2540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Fifth level</a:t>
            </a:r>
            <a:endParaRPr lang="en-US" sz="20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" name="AutoShape 4"/>
          <p:cNvSpPr/>
          <p:nvPr>
            <p:ph type="body" sz="quarter" idx="44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t"/>
          <a:lstStyle>
            <a:lvl1pPr algn="l">
              <a:lnSpc>
                <a:spcPct val="100000"/>
              </a:lnSpc>
              <a:defRPr sz="1400" b="0" i="0" u="none" strike="noStrike" spc="0">
                <a:solidFill>
                  <a:srgbClr val="000000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text styles</a:t>
            </a:r>
            <a:endParaRPr lang="en-US" sz="14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5" name="AutoShape 5"/>
          <p:cNvSpPr/>
          <p:nvPr>
            <p:ph type="body" sz="quarter" idx="45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l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7/22/2025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6" name="AutoShape 6"/>
          <p:cNvSpPr/>
          <p:nvPr>
            <p:ph type="body" sz="quarter" idx="46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lIns="91440" tIns="45720" rIns="91440" bIns="45720" anchor="ctr"/>
          <a:lstStyle>
            <a:lvl1pPr algn="ctr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indent="0" algn="ct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页脚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" name="AutoShape 7"/>
          <p:cNvSpPr/>
          <p:nvPr>
            <p:ph type="body" sz="quarter" idx="47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r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‹#›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48" hasCustomPrompt="1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b"/>
          <a:lstStyle>
            <a:lvl1pPr algn="l">
              <a:lnSpc>
                <a:spcPct val="100000"/>
              </a:lnSpc>
              <a:defRPr sz="2000" b="1" i="0" u="none" strike="noStrike" spc="0">
                <a:solidFill>
                  <a:srgbClr val="000000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l">
              <a:lnSpc>
                <a:spcPct val="100000"/>
              </a:lnSpc>
            </a:pPr>
            <a:r>
              <a:rPr lang="en-US" sz="2000" b="1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title style</a:t>
            </a:r>
            <a:endParaRPr lang="en-US" sz="2000" b="1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AutoShape 3"/>
          <p:cNvSpPr/>
          <p:nvPr>
            <p:ph type="pic" sz="quarter" idx="49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63500" tIns="63500" rIns="63500" bIns="63500" anchor="ctr"/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algn="ctr"/>
          </a:p>
        </p:txBody>
      </p:sp>
      <p:sp>
        <p:nvSpPr>
          <p:cNvPr id="4" name="AutoShape 4"/>
          <p:cNvSpPr/>
          <p:nvPr>
            <p:ph type="body" sz="quarter" idx="50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t"/>
          <a:lstStyle>
            <a:lvl1pPr algn="l">
              <a:lnSpc>
                <a:spcPct val="100000"/>
              </a:lnSpc>
              <a:defRPr sz="1400" b="0" i="0" u="none" strike="noStrike" spc="0">
                <a:solidFill>
                  <a:srgbClr val="000000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text styles</a:t>
            </a:r>
            <a:endParaRPr lang="en-US" sz="14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5" name="AutoShape 5"/>
          <p:cNvSpPr/>
          <p:nvPr>
            <p:ph type="body" sz="quarter" idx="51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l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7/22/2025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6" name="AutoShape 6"/>
          <p:cNvSpPr/>
          <p:nvPr>
            <p:ph type="body" sz="quarter" idx="52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lIns="91440" tIns="45720" rIns="91440" bIns="45720" anchor="ctr"/>
          <a:lstStyle>
            <a:lvl1pPr algn="ctr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indent="0" algn="ct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页脚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" name="AutoShape 7"/>
          <p:cNvSpPr/>
          <p:nvPr>
            <p:ph type="body" sz="quarter" idx="53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r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‹#›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54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ctr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ctr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title style</a:t>
            </a:r>
            <a:endParaRPr lang="en-US" sz="44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AutoShape 3"/>
          <p:cNvSpPr/>
          <p:nvPr>
            <p:ph type="body" sz="quarter" idx="55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lIns="91440" tIns="45720" rIns="91440" bIns="45720" anchor="t"/>
          <a:lstStyle>
            <a:lvl1pPr algn="l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marL="406400" indent="-4064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text styles</a:t>
            </a:r>
            <a:endParaRPr lang="en-US" sz="32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812800" lvl="1" indent="-3556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Second level</a:t>
            </a:r>
            <a:endParaRPr lang="en-US" sz="28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1219200" lvl="2" indent="-3048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Third level</a:t>
            </a:r>
            <a:endParaRPr lang="en-US" sz="24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1625600" lvl="3" indent="-2540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Fourth level</a:t>
            </a:r>
            <a:endParaRPr lang="en-US" sz="20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082800" lvl="4" indent="-2540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Fifth level</a:t>
            </a:r>
            <a:endParaRPr lang="en-US" sz="20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" name="AutoShape 4"/>
          <p:cNvSpPr/>
          <p:nvPr>
            <p:ph type="body" sz="quarter" idx="56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l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7/22/2025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5" name="AutoShape 5"/>
          <p:cNvSpPr/>
          <p:nvPr>
            <p:ph type="body" sz="quarter" idx="57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lIns="91440" tIns="45720" rIns="91440" bIns="45720" anchor="ctr"/>
          <a:lstStyle>
            <a:lvl1pPr algn="ctr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indent="0" algn="ct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页脚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6" name="AutoShape 6"/>
          <p:cNvSpPr/>
          <p:nvPr>
            <p:ph type="body" sz="quarter" idx="58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r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‹#›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59" hasCustomPrompt="1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lIns="91440" tIns="45720" rIns="91440" bIns="45720" anchor="ctr"/>
          <a:lstStyle>
            <a:lvl1pPr algn="ctr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ctr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title style</a:t>
            </a:r>
            <a:endParaRPr lang="en-US" sz="44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" name="AutoShape 3"/>
          <p:cNvSpPr/>
          <p:nvPr>
            <p:ph type="body" sz="quarter" idx="60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lIns="91440" tIns="45720" rIns="91440" bIns="45720" anchor="t"/>
          <a:lstStyle>
            <a:lvl1pPr algn="l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marL="406400" indent="-4064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edit Master text styles</a:t>
            </a:r>
            <a:endParaRPr lang="en-US" sz="32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812800" lvl="1" indent="-3556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Second level</a:t>
            </a:r>
            <a:endParaRPr lang="en-US" sz="28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1219200" lvl="2" indent="-3048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Third level</a:t>
            </a:r>
            <a:endParaRPr lang="en-US" sz="24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1625600" lvl="3" indent="-2540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Fourth level</a:t>
            </a:r>
            <a:endParaRPr lang="en-US" sz="20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082800" lvl="4" indent="-2540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Fifth level</a:t>
            </a:r>
            <a:endParaRPr lang="en-US" sz="20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" name="AutoShape 4"/>
          <p:cNvSpPr/>
          <p:nvPr>
            <p:ph type="body" sz="quarter" idx="61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l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7/22/2025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5" name="AutoShape 5"/>
          <p:cNvSpPr/>
          <p:nvPr>
            <p:ph type="body" sz="quarter" idx="62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lIns="91440" tIns="45720" rIns="91440" bIns="45720" anchor="ctr"/>
          <a:lstStyle>
            <a:lvl1pPr algn="ctr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indent="0" algn="ct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页脚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6" name="AutoShape 6"/>
          <p:cNvSpPr/>
          <p:nvPr>
            <p:ph type="body" sz="quarter" idx="63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anchor="ctr"/>
          <a:lstStyle>
            <a:lvl1pPr algn="r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 panose="020F0502020204030204"/>
              </a:defRPr>
            </a:lvl1pPr>
          </a:lstStyle>
          <a:p>
            <a:pPr indent="0" algn="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‹#›</a:t>
            </a:r>
            <a:endParaRPr lang="en-US" sz="1200" b="0" i="0" u="none" strike="noStrike">
              <a:solidFill>
                <a:srgbClr val="89898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8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8.xml"/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18.xml"/><Relationship Id="rId4" Type="http://schemas.openxmlformats.org/officeDocument/2006/relationships/image" Target="../media/image8.png"/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18.xml"/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18.xml"/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8.xml"/><Relationship Id="rId6" Type="http://schemas.openxmlformats.org/officeDocument/2006/relationships/slideLayout" Target="../slideLayouts/slideLayout18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3" Type="http://schemas.openxmlformats.org/officeDocument/2006/relationships/image" Target="../media/image1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18.xml"/><Relationship Id="rId4" Type="http://schemas.openxmlformats.org/officeDocument/2006/relationships/image" Target="../media/image19.svg"/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18.xml"/><Relationship Id="rId3" Type="http://schemas.openxmlformats.org/officeDocument/2006/relationships/image" Target="../media/image1.png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18.xml"/><Relationship Id="rId4" Type="http://schemas.openxmlformats.org/officeDocument/2006/relationships/image" Target="../media/image1.png"/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18.xml"/><Relationship Id="rId4" Type="http://schemas.openxmlformats.org/officeDocument/2006/relationships/image" Target="../media/image1.png"/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18.xml"/><Relationship Id="rId4" Type="http://schemas.openxmlformats.org/officeDocument/2006/relationships/image" Target="../media/image30.png"/><Relationship Id="rId3" Type="http://schemas.openxmlformats.org/officeDocument/2006/relationships/image" Target="../media/image1.png"/><Relationship Id="rId2" Type="http://schemas.openxmlformats.org/officeDocument/2006/relationships/image" Target="../media/image29.png"/><Relationship Id="rId1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1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1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8.xml"/><Relationship Id="rId4" Type="http://schemas.openxmlformats.org/officeDocument/2006/relationships/image" Target="../media/image35.png"/><Relationship Id="rId3" Type="http://schemas.openxmlformats.org/officeDocument/2006/relationships/image" Target="../media/image1.png"/><Relationship Id="rId2" Type="http://schemas.openxmlformats.org/officeDocument/2006/relationships/image" Target="../media/image34.png"/><Relationship Id="rId1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image" Target="../media/image37.png"/><Relationship Id="rId1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8.xml"/><Relationship Id="rId1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8.xml"/><Relationship Id="rId1" Type="http://schemas.openxmlformats.org/officeDocument/2006/relationships/image" Target="../media/image3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8.xml"/><Relationship Id="rId1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18.xml"/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8.xml"/><Relationship Id="rId4" Type="http://schemas.openxmlformats.org/officeDocument/2006/relationships/image" Target="../media/image46.png"/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8.xml"/><Relationship Id="rId1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8.xml"/><Relationship Id="rId1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46352" y="0"/>
            <a:ext cx="4041648" cy="1188720"/>
          </a:xfrm>
          <a:prstGeom prst="rect">
            <a:avLst/>
          </a:prstGeom>
          <a:ln w="25400">
            <a:noFill/>
            <a:prstDash val="solid"/>
          </a:ln>
        </p:spPr>
      </p:pic>
      <p:sp>
        <p:nvSpPr>
          <p:cNvPr id="3" name="AutoShape 3"/>
          <p:cNvSpPr/>
          <p:nvPr/>
        </p:nvSpPr>
        <p:spPr>
          <a:xfrm>
            <a:off x="3957112" y="1070170"/>
            <a:ext cx="9880600" cy="24765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0" rIns="0" bIns="0" rtlCol="0" anchor="t">
            <a:spAutoFit/>
          </a:bodyPr>
          <a:lstStyle/>
          <a:p>
            <a:pPr indent="0" algn="ctr">
              <a:lnSpc>
                <a:spcPct val="100000"/>
              </a:lnSpc>
              <a:defRPr/>
            </a:pPr>
            <a:r>
              <a:rPr lang="en-US" sz="5000" b="0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STAT1000J Spring 2025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5000" b="0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Data Science for Future Engineers</a:t>
            </a:r>
            <a:endParaRPr lang="en-US" sz="5000" b="0" i="0" u="none" strike="noStrike">
              <a:solidFill>
                <a:srgbClr val="00285E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ctr">
              <a:lnSpc>
                <a:spcPct val="100000"/>
              </a:lnSpc>
            </a:pPr>
          </a:p>
        </p:txBody>
      </p:sp>
      <p:sp>
        <p:nvSpPr>
          <p:cNvPr id="4" name="AutoShape 4"/>
          <p:cNvSpPr/>
          <p:nvPr/>
        </p:nvSpPr>
        <p:spPr>
          <a:xfrm>
            <a:off x="1369678" y="2941274"/>
            <a:ext cx="15995884" cy="32004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0" rIns="0" bIns="0" rtlCol="0" anchor="t">
            <a:spAutoFit/>
          </a:bodyPr>
          <a:lstStyle/>
          <a:p>
            <a:pPr indent="0" algn="ctr">
              <a:lnSpc>
                <a:spcPts val="10080"/>
              </a:lnSpc>
              <a:defRPr/>
            </a:pPr>
            <a:r>
              <a:rPr lang="en-US" sz="72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Unraveling the Influence of Social Media on Students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3117950" y="6435176"/>
            <a:ext cx="12052300" cy="1282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0" rIns="0" bIns="0" rtlCol="0" anchor="t">
            <a:spAutoFit/>
          </a:bodyPr>
          <a:lstStyle/>
          <a:p>
            <a:pPr indent="0" algn="ctr">
              <a:lnSpc>
                <a:spcPts val="3815"/>
              </a:lnSpc>
              <a:defRPr/>
            </a:pPr>
            <a:r>
              <a:rPr lang="en-US" sz="3600" b="1" i="0" u="none" strike="noStrike" spc="2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Group </a:t>
            </a:r>
            <a:r>
              <a:rPr lang="en-US" sz="36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9</a:t>
            </a:r>
            <a:r>
              <a:rPr lang="en-US" sz="36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    </a:t>
            </a:r>
            <a:endParaRPr lang="en-US" sz="1100"/>
          </a:p>
          <a:p>
            <a:pPr indent="0" algn="ctr">
              <a:lnSpc>
                <a:spcPts val="3815"/>
              </a:lnSpc>
            </a:pPr>
            <a:r>
              <a:rPr lang="en-US" sz="36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Zhuoyang Xie </a:t>
            </a:r>
            <a:r>
              <a:rPr lang="en-US" sz="36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r>
              <a:rPr lang="en-US" sz="36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Chenkai Ji</a:t>
            </a:r>
            <a:endParaRPr lang="en-US" sz="3600" b="1" i="0" u="none" strike="noStrike">
              <a:solidFill>
                <a:srgbClr val="00285E"/>
              </a:solidFill>
              <a:highlight>
                <a:srgbClr val="FFFFFF">
                  <a:alpha val="0"/>
                </a:srgbClr>
              </a:highlight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2895600" y="8152475"/>
            <a:ext cx="12496800" cy="8763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ctr">
              <a:lnSpc>
                <a:spcPct val="125000"/>
              </a:lnSpc>
              <a:defRPr/>
            </a:pPr>
            <a:r>
              <a:rPr lang="en-US" sz="2300" b="0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Both of the group members contributed to 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2300" b="0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every part of the project</a:t>
            </a:r>
            <a:r>
              <a:rPr lang="en-US" sz="2300" b="0" i="0" u="none" strike="noStrike">
                <a:solidFill>
                  <a:srgbClr val="1F2329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.</a:t>
            </a:r>
            <a:endParaRPr lang="en-US" sz="2300" b="0" i="0" u="none" strike="noStrike">
              <a:solidFill>
                <a:srgbClr val="1F2329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ln w="25400">
            <a:noFill/>
            <a:prstDash val="solid"/>
          </a:ln>
        </p:spPr>
      </p:pic>
      <p:sp>
        <p:nvSpPr>
          <p:cNvPr id="3" name="AutoShape 3"/>
          <p:cNvSpPr/>
          <p:nvPr/>
        </p:nvSpPr>
        <p:spPr>
          <a:xfrm>
            <a:off x="-930846" y="714178"/>
            <a:ext cx="7747000" cy="1600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0" rIns="0" bIns="0" rtlCol="0" anchor="t">
            <a:spAutoFit/>
          </a:bodyPr>
          <a:lstStyle/>
          <a:p>
            <a:pPr indent="0" algn="ctr">
              <a:lnSpc>
                <a:spcPts val="10080"/>
              </a:lnSpc>
              <a:defRPr/>
            </a:pPr>
            <a:r>
              <a:rPr lang="en-US" sz="72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Contents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alphaModFix amt="81000"/>
          </a:blip>
          <a:srcRect t="8569" b="8569"/>
          <a:stretch>
            <a:fillRect/>
          </a:stretch>
        </p:blipFill>
        <p:spPr>
          <a:xfrm>
            <a:off x="7248180" y="1895784"/>
            <a:ext cx="10356095" cy="7373577"/>
          </a:xfrm>
          <a:prstGeom prst="roundRect">
            <a:avLst>
              <a:gd name="adj" fmla="val 1377"/>
            </a:avLst>
          </a:prstGeom>
          <a:ln w="25400" cap="flat" cmpd="sng">
            <a:noFill/>
            <a:prstDash val="solid"/>
            <a:round/>
          </a:ln>
          <a:effectLst>
            <a:outerShdw blurRad="190500" dist="190500" dir="2700000" algn="tl" rotWithShape="0">
              <a:srgbClr val="000000">
                <a:alpha val="54000"/>
              </a:srgbClr>
            </a:outerShdw>
          </a:effectLst>
        </p:spPr>
      </p:pic>
      <p:sp>
        <p:nvSpPr>
          <p:cNvPr id="5" name="AutoShape 5"/>
          <p:cNvSpPr/>
          <p:nvPr/>
        </p:nvSpPr>
        <p:spPr>
          <a:xfrm>
            <a:off x="1112197" y="1895784"/>
            <a:ext cx="6083300" cy="10134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0" rIns="0" bIns="0" rtlCol="0" anchor="t">
            <a:spAutoFit/>
          </a:bodyPr>
          <a:lstStyle/>
          <a:p>
            <a:pPr indent="0" algn="l">
              <a:lnSpc>
                <a:spcPct val="200000"/>
              </a:lnSpc>
              <a:defRPr/>
            </a:pPr>
            <a:r>
              <a:rPr lang="en-US" sz="35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01. Motivation</a:t>
            </a:r>
            <a:endParaRPr lang="en-US" sz="1100"/>
          </a:p>
          <a:p>
            <a:pPr indent="0" algn="l">
              <a:lnSpc>
                <a:spcPct val="200000"/>
              </a:lnSpc>
            </a:pPr>
            <a:r>
              <a:rPr lang="en-US" sz="35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02. Goals</a:t>
            </a:r>
            <a:endParaRPr lang="en-US" sz="3500" b="1" i="0" u="none" strike="noStrike">
              <a:solidFill>
                <a:srgbClr val="00285E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l">
              <a:lnSpc>
                <a:spcPct val="200000"/>
              </a:lnSpc>
            </a:pPr>
            <a:r>
              <a:rPr lang="en-US" sz="35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03. Basic Information</a:t>
            </a:r>
            <a:endParaRPr lang="en-US" sz="3500" b="1" i="0" u="none" strike="noStrike">
              <a:solidFill>
                <a:srgbClr val="00285E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l">
              <a:lnSpc>
                <a:spcPct val="200000"/>
              </a:lnSpc>
            </a:pPr>
            <a:r>
              <a:rPr lang="en-US" sz="35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04. Data exploration</a:t>
            </a:r>
            <a:endParaRPr lang="en-US" sz="3500" b="1" i="0" u="none" strike="noStrike">
              <a:solidFill>
                <a:srgbClr val="00285E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l">
              <a:lnSpc>
                <a:spcPct val="200000"/>
              </a:lnSpc>
            </a:pPr>
            <a:r>
              <a:rPr lang="en-US" sz="35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05. Hypothesis testing</a:t>
            </a:r>
            <a:endParaRPr lang="en-US" sz="3500" b="1" i="0" u="none" strike="noStrike">
              <a:solidFill>
                <a:srgbClr val="00285E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l">
              <a:lnSpc>
                <a:spcPct val="200000"/>
              </a:lnSpc>
            </a:pPr>
            <a:r>
              <a:rPr lang="en-US" sz="35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06. Predictive model</a:t>
            </a:r>
            <a:endParaRPr lang="en-US" sz="3500" b="1" i="0" u="none" strike="noStrike">
              <a:solidFill>
                <a:srgbClr val="00285E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l">
              <a:lnSpc>
                <a:spcPct val="200000"/>
              </a:lnSpc>
            </a:pPr>
            <a:r>
              <a:rPr lang="en-US" sz="35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07. Conclusion</a:t>
            </a:r>
            <a:endParaRPr lang="en-US" sz="3500" b="1" i="0" u="none" strike="noStrike">
              <a:solidFill>
                <a:srgbClr val="00285E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l">
              <a:lnSpc>
                <a:spcPct val="200000"/>
              </a:lnSpc>
            </a:pPr>
          </a:p>
          <a:p>
            <a:pPr indent="0" algn="l">
              <a:lnSpc>
                <a:spcPct val="200000"/>
              </a:lnSpc>
            </a:pPr>
          </a:p>
          <a:p>
            <a:pPr indent="0" algn="l">
              <a:lnSpc>
                <a:spcPct val="200000"/>
              </a:lnSpc>
            </a:pPr>
          </a:p>
          <a:p>
            <a:pPr indent="0" algn="l">
              <a:lnSpc>
                <a:spcPct val="200000"/>
              </a:lnSpc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6352" y="0"/>
            <a:ext cx="4041648" cy="1188720"/>
          </a:xfrm>
          <a:prstGeom prst="rect">
            <a:avLst/>
          </a:prstGeom>
          <a:ln w="25400">
            <a:noFill/>
            <a:prstDash val="solid"/>
          </a:ln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972881" y="574096"/>
            <a:ext cx="7747000" cy="1600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0" rIns="0" bIns="0" rtlCol="0" anchor="t">
            <a:spAutoFit/>
          </a:bodyPr>
          <a:lstStyle/>
          <a:p>
            <a:pPr indent="0" algn="ctr">
              <a:lnSpc>
                <a:spcPts val="10080"/>
              </a:lnSpc>
              <a:defRPr/>
            </a:pPr>
            <a:r>
              <a:rPr lang="en-US" sz="72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Motivation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390340" y="2310428"/>
            <a:ext cx="7162800" cy="697103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0" rIns="0" bIns="0" rtlCol="0" anchor="t">
            <a:spAutoFit/>
          </a:bodyPr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0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Massive Social Media Usage</a:t>
            </a:r>
            <a:endParaRPr lang="en-US" sz="1100"/>
          </a:p>
          <a:p>
            <a:pPr indent="0" algn="ctr">
              <a:lnSpc>
                <a:spcPct val="150000"/>
              </a:lnSpc>
            </a:pPr>
          </a:p>
          <a:p>
            <a:pPr indent="0" algn="ctr">
              <a:lnSpc>
                <a:spcPct val="150000"/>
              </a:lnSpc>
            </a:pPr>
          </a:p>
          <a:p>
            <a:pPr indent="0" algn="ctr">
              <a:lnSpc>
                <a:spcPct val="150000"/>
              </a:lnSpc>
            </a:pPr>
            <a:endParaRPr lang="en-US" sz="3600" b="0" i="0" u="none" strike="noStrike">
              <a:solidFill>
                <a:srgbClr val="00285E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ctr">
              <a:lnSpc>
                <a:spcPct val="150000"/>
              </a:lnSpc>
            </a:pPr>
            <a:r>
              <a:rPr lang="en-US" sz="3600" b="0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What </a:t>
            </a:r>
            <a:r>
              <a:rPr lang="en-US" sz="3600" b="0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influence does social media  brings nowadays?</a:t>
            </a:r>
            <a:endParaRPr lang="en-US" sz="3600" b="0" i="0" u="none" strike="noStrike">
              <a:solidFill>
                <a:srgbClr val="00285E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ctr">
              <a:lnSpc>
                <a:spcPct val="150000"/>
              </a:lnSpc>
            </a:pPr>
          </a:p>
          <a:p>
            <a:pPr indent="0" algn="ctr">
              <a:lnSpc>
                <a:spcPct val="150000"/>
              </a:lnSpc>
            </a:pPr>
          </a:p>
          <a:p>
            <a:pPr indent="0" algn="ctr">
              <a:lnSpc>
                <a:spcPct val="150000"/>
              </a:lnSpc>
            </a:pPr>
            <a:endParaRPr lang="en-US" sz="3600" b="0" i="0" u="none" strike="noStrike">
              <a:solidFill>
                <a:srgbClr val="00285E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ctr">
              <a:lnSpc>
                <a:spcPct val="150000"/>
              </a:lnSpc>
            </a:pPr>
            <a:r>
              <a:rPr lang="en-US" sz="3600" b="0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How is it related to soical media addition?</a:t>
            </a:r>
            <a:endParaRPr lang="en-US" sz="3600" b="0" i="0" u="none" strike="noStrike">
              <a:solidFill>
                <a:srgbClr val="00285E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3544233" y="3096652"/>
            <a:ext cx="855014" cy="1181606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07B05">
              <a:alpha val="100000"/>
            </a:srgbClr>
          </a:solidFill>
          <a:ln w="25400" cap="flat">
            <a:solidFill>
              <a:srgbClr val="1C334E">
                <a:alpha val="100000"/>
              </a:srgbClr>
            </a:solidFill>
            <a:prstDash val="solid"/>
          </a:ln>
        </p:spPr>
        <p:txBody>
          <a:bodyPr lIns="91440" tIns="45720" rIns="91440" bIns="4572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3544233" y="6190616"/>
            <a:ext cx="855014" cy="1181606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07B05">
              <a:alpha val="100000"/>
            </a:srgbClr>
          </a:solidFill>
          <a:ln w="25400" cap="flat">
            <a:solidFill>
              <a:srgbClr val="1C334E">
                <a:alpha val="100000"/>
              </a:srgbClr>
            </a:solidFill>
            <a:prstDash val="solid"/>
          </a:ln>
        </p:spPr>
        <p:txBody>
          <a:bodyPr lIns="91440" tIns="45720" rIns="91440" bIns="4572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5560" y="2174296"/>
            <a:ext cx="9615714" cy="6731000"/>
          </a:xfrm>
          <a:prstGeom prst="roundRect">
            <a:avLst>
              <a:gd name="adj" fmla="val 3018"/>
            </a:avLst>
          </a:prstGeom>
          <a:ln>
            <a:noFill/>
            <a:prstDash val="solid"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352" y="73376"/>
            <a:ext cx="4041648" cy="1188720"/>
          </a:xfrm>
          <a:prstGeom prst="rect">
            <a:avLst/>
          </a:prstGeom>
          <a:ln w="25400">
            <a:noFill/>
            <a:prstDash val="solid"/>
          </a:ln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66700"/>
            <a:ext cx="18288000" cy="10287000"/>
          </a:xfrm>
          <a:prstGeom prst="rect">
            <a:avLst/>
          </a:prstGeom>
          <a:ln w="25400">
            <a:noFill/>
            <a:prstDash val="solid"/>
          </a:ln>
        </p:spPr>
      </p:pic>
      <p:sp>
        <p:nvSpPr>
          <p:cNvPr id="3" name="AutoShape 3"/>
          <p:cNvSpPr/>
          <p:nvPr/>
        </p:nvSpPr>
        <p:spPr>
          <a:xfrm>
            <a:off x="-1496289" y="667736"/>
            <a:ext cx="7747000" cy="1600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0" rIns="0" bIns="0" rtlCol="0" anchor="t">
            <a:spAutoFit/>
          </a:bodyPr>
          <a:lstStyle/>
          <a:p>
            <a:pPr indent="0" algn="ctr">
              <a:lnSpc>
                <a:spcPts val="10080"/>
              </a:lnSpc>
              <a:defRPr/>
            </a:pPr>
            <a:r>
              <a:rPr lang="en-US" sz="72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Goals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143000" y="2400300"/>
            <a:ext cx="16459200" cy="55499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0" rIns="0" bIns="0" rtlCol="0" anchor="t">
            <a:spAutoFit/>
          </a:bodyPr>
          <a:lstStyle/>
          <a:p>
            <a:pPr marL="609600" indent="-609600" algn="l">
              <a:lnSpc>
                <a:spcPct val="150000"/>
              </a:lnSpc>
              <a:buClr>
                <a:srgbClr val="00285E"/>
              </a:buClr>
              <a:buChar char="•"/>
              <a:defRPr/>
            </a:pPr>
            <a:r>
              <a:rPr lang="en-US" sz="4800" b="0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Overview some basic information about the dataset.</a:t>
            </a:r>
            <a:endParaRPr lang="en-US" sz="1100"/>
          </a:p>
          <a:p>
            <a:pPr marL="609600" indent="-609600" algn="l">
              <a:lnSpc>
                <a:spcPct val="150000"/>
              </a:lnSpc>
              <a:buClr>
                <a:srgbClr val="00285E"/>
              </a:buClr>
              <a:buChar char="•"/>
            </a:pPr>
            <a:r>
              <a:rPr lang="en-US" sz="4800" b="0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Explore the data to find interesting correlations.</a:t>
            </a:r>
            <a:endParaRPr lang="en-US" sz="4800" b="0" i="0" u="none" strike="noStrike">
              <a:solidFill>
                <a:srgbClr val="00285E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609600" indent="-609600" algn="l">
              <a:lnSpc>
                <a:spcPct val="150000"/>
              </a:lnSpc>
              <a:buClr>
                <a:srgbClr val="00285E"/>
              </a:buClr>
              <a:buChar char="•"/>
            </a:pPr>
            <a:r>
              <a:rPr lang="en-US" sz="4800" b="0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Us</a:t>
            </a:r>
            <a:r>
              <a:rPr lang="en-US" sz="4800" b="0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e </a:t>
            </a:r>
            <a:r>
              <a:rPr lang="en-US" sz="4800" b="0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hypothesis testing for proposed relationships.</a:t>
            </a:r>
            <a:endParaRPr lang="en-US" sz="4800" b="0" i="0" u="none" strike="noStrike">
              <a:solidFill>
                <a:srgbClr val="00285E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609600" indent="-609600" algn="l">
              <a:lnSpc>
                <a:spcPct val="150000"/>
              </a:lnSpc>
              <a:buClr>
                <a:srgbClr val="00285E"/>
              </a:buClr>
              <a:buChar char="•"/>
            </a:pPr>
            <a:r>
              <a:rPr lang="en-US" sz="4800" b="0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Create a predictive model on social media addiction.</a:t>
            </a:r>
            <a:endParaRPr lang="en-US" sz="4800" b="0" i="0" u="none" strike="noStrike">
              <a:solidFill>
                <a:srgbClr val="00285E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l">
              <a:lnSpc>
                <a:spcPct val="150000"/>
              </a:lnSpc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352" y="73376"/>
            <a:ext cx="4041648" cy="1188720"/>
          </a:xfrm>
          <a:prstGeom prst="rect">
            <a:avLst/>
          </a:prstGeom>
          <a:ln w="25400">
            <a:noFill/>
            <a:prstDash val="solid"/>
          </a:ln>
        </p:spPr>
      </p:pic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38583" y="599980"/>
            <a:ext cx="6565664" cy="11430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60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Basic Information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246886" y="1908164"/>
            <a:ext cx="17881600" cy="5715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marL="457200" lvl="1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data=pd.read_csv('Students Social Media Addiction.csv')         </a:t>
            </a:r>
            <a:r>
              <a:rPr lang="en-US" sz="3000" b="1" i="0" u="none" strike="noStrike">
                <a:solidFill>
                  <a:srgbClr val="D8393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705</a:t>
            </a:r>
            <a:r>
              <a:rPr lang="en-US" sz="3000" b="1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rows × </a:t>
            </a:r>
            <a:r>
              <a:rPr lang="en-US" sz="3000" b="1" i="0" u="none" strike="noStrike">
                <a:solidFill>
                  <a:srgbClr val="D8393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13</a:t>
            </a:r>
            <a:r>
              <a:rPr lang="en-US" sz="3000" b="1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columns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568648"/>
            <a:ext cx="18288000" cy="7087220"/>
          </a:xfrm>
          <a:prstGeom prst="rect">
            <a:avLst/>
          </a:prstGeom>
          <a:ln>
            <a:noFill/>
            <a:prstDash val="solid"/>
          </a:ln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352" y="73376"/>
            <a:ext cx="4041648" cy="1188720"/>
          </a:xfrm>
          <a:prstGeom prst="rect">
            <a:avLst/>
          </a:prstGeom>
          <a:ln w="25400">
            <a:noFill/>
            <a:prstDash val="solid"/>
          </a:ln>
        </p:spPr>
      </p:pic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38583" y="599980"/>
            <a:ext cx="6565664" cy="11430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60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Basic Information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38583" y="1908164"/>
            <a:ext cx="17881600" cy="6350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300" b="1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Is this dataset universally applicable or only applicable for a certain region/gender/etc?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7042" y="2820448"/>
            <a:ext cx="12870958" cy="6695017"/>
          </a:xfrm>
          <a:prstGeom prst="rect">
            <a:avLst/>
          </a:prstGeom>
          <a:ln>
            <a:noFill/>
            <a:prstDash val="solid"/>
          </a:ln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05" y="3113593"/>
            <a:ext cx="5694174" cy="3293575"/>
          </a:xfrm>
          <a:prstGeom prst="rect">
            <a:avLst/>
          </a:prstGeom>
          <a:ln>
            <a:noFill/>
            <a:prstDash val="solid"/>
          </a:ln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6352" y="73376"/>
            <a:ext cx="4041648" cy="1188720"/>
          </a:xfrm>
          <a:prstGeom prst="rect">
            <a:avLst/>
          </a:prstGeom>
          <a:ln w="25400">
            <a:noFill/>
            <a:prstDash val="solid"/>
          </a:ln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1020" y="165184"/>
            <a:ext cx="1742980" cy="1742980"/>
          </a:xfrm>
          <a:prstGeom prst="rect">
            <a:avLst/>
          </a:prstGeom>
          <a:ln>
            <a:noFill/>
            <a:prstDash val="solid"/>
          </a:ln>
        </p:spPr>
      </p:pic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38583" y="599980"/>
            <a:ext cx="6565664" cy="11430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60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Basic Information</a:t>
            </a:r>
            <a:endParaRPr lang="en-US" sz="1100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05" y="2232151"/>
            <a:ext cx="7908619" cy="7148175"/>
          </a:xfrm>
          <a:prstGeom prst="rect">
            <a:avLst/>
          </a:prstGeom>
          <a:ln>
            <a:noFill/>
            <a:prstDash val="solid"/>
          </a:ln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5318" y="2232151"/>
            <a:ext cx="9766276" cy="7148175"/>
          </a:xfrm>
          <a:prstGeom prst="rect">
            <a:avLst/>
          </a:prstGeom>
          <a:ln>
            <a:noFill/>
            <a:prstDash val="solid"/>
          </a:ln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6352" y="73376"/>
            <a:ext cx="4041648" cy="1188720"/>
          </a:xfrm>
          <a:prstGeom prst="rect">
            <a:avLst/>
          </a:prstGeom>
          <a:ln w="25400">
            <a:noFill/>
            <a:prstDash val="solid"/>
          </a:ln>
        </p:spPr>
      </p:pic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38583" y="599980"/>
            <a:ext cx="6565664" cy="11430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60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Basic Information</a:t>
            </a:r>
            <a:endParaRPr lang="en-US" sz="1100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901083"/>
            <a:ext cx="9144000" cy="5646821"/>
          </a:xfrm>
          <a:prstGeom prst="rect">
            <a:avLst/>
          </a:prstGeom>
          <a:ln>
            <a:noFill/>
            <a:prstDash val="solid"/>
          </a:ln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2961327"/>
            <a:ext cx="9144000" cy="5646821"/>
          </a:xfrm>
          <a:prstGeom prst="rect">
            <a:avLst/>
          </a:prstGeom>
          <a:ln>
            <a:noFill/>
            <a:prstDash val="solid"/>
          </a:ln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6352" y="73376"/>
            <a:ext cx="4041648" cy="1188720"/>
          </a:xfrm>
          <a:prstGeom prst="rect">
            <a:avLst/>
          </a:prstGeom>
          <a:ln w="25400">
            <a:noFill/>
            <a:prstDash val="solid"/>
          </a:ln>
        </p:spPr>
      </p:pic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rcRect l="2183" r="2183"/>
          <a:stretch>
            <a:fillRect/>
          </a:stretch>
        </p:blipFill>
        <p:spPr>
          <a:xfrm>
            <a:off x="695211" y="2945728"/>
            <a:ext cx="15652645" cy="7243438"/>
          </a:xfrm>
          <a:prstGeom prst="rect">
            <a:avLst/>
          </a:prstGeom>
          <a:ln w="25400">
            <a:noFill/>
            <a:prstDash val="solid"/>
          </a:ln>
        </p:spPr>
      </p:pic>
      <p:sp>
        <p:nvSpPr>
          <p:cNvPr id="3" name="AutoShape 3"/>
          <p:cNvSpPr/>
          <p:nvPr/>
        </p:nvSpPr>
        <p:spPr>
          <a:xfrm>
            <a:off x="476162" y="73376"/>
            <a:ext cx="11420364" cy="15494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0" rIns="0" bIns="0" rtlCol="0" anchor="t">
            <a:spAutoFit/>
          </a:bodyPr>
          <a:lstStyle/>
          <a:p>
            <a:pPr indent="0" algn="ctr">
              <a:lnSpc>
                <a:spcPts val="10080"/>
              </a:lnSpc>
              <a:defRPr/>
            </a:pPr>
            <a:r>
              <a:rPr lang="en-US" sz="60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Data </a:t>
            </a:r>
            <a:r>
              <a:rPr lang="en-US" sz="60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E</a:t>
            </a:r>
            <a:r>
              <a:rPr lang="en-US" sz="60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xploration</a:t>
            </a:r>
            <a:r>
              <a:rPr lang="en-US" sz="60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(Groupby)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464" y="1345249"/>
            <a:ext cx="10101759" cy="1698313"/>
          </a:xfrm>
          <a:prstGeom prst="rect">
            <a:avLst/>
          </a:prstGeom>
          <a:ln>
            <a:noFill/>
            <a:prstDash val="solid"/>
          </a:ln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6352" y="73376"/>
            <a:ext cx="4041648" cy="1188720"/>
          </a:xfrm>
          <a:prstGeom prst="rect">
            <a:avLst/>
          </a:prstGeom>
          <a:ln w="25400">
            <a:noFill/>
            <a:prstDash val="solid"/>
          </a:ln>
        </p:spPr>
      </p:pic>
      <p:sp>
        <p:nvSpPr>
          <p:cNvPr id="6" name="AutoShape 6"/>
          <p:cNvSpPr/>
          <p:nvPr/>
        </p:nvSpPr>
        <p:spPr>
          <a:xfrm>
            <a:off x="5929226" y="4159586"/>
            <a:ext cx="2895600" cy="7112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700" b="1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Dominantly!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>
            <a:off x="2935025" y="3880971"/>
            <a:ext cx="2714898" cy="634215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>
            <a:solidFill>
              <a:srgbClr val="2B2F36">
                <a:alpha val="100000"/>
              </a:srgbClr>
            </a:solidFill>
            <a:prstDash val="solid"/>
            <a:headEnd type="none" w="lg" len="lg"/>
            <a:tailEnd type="arrow" w="lg" len="lg"/>
          </a:ln>
        </p:spPr>
      </p:cxnSp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4966" y="3884389"/>
            <a:ext cx="1486704" cy="1404363"/>
          </a:xfrm>
          <a:prstGeom prst="rect">
            <a:avLst/>
          </a:prstGeom>
          <a:ln>
            <a:noFill/>
            <a:prstDash val="solid"/>
          </a:ln>
        </p:spPr>
      </p:pic>
      <p:cxnSp>
        <p:nvCxnSpPr>
          <p:cNvPr id="9" name="Connector 9"/>
          <p:cNvCxnSpPr/>
          <p:nvPr/>
        </p:nvCxnSpPr>
        <p:spPr>
          <a:xfrm rot="-101102">
            <a:off x="4084978" y="5959479"/>
            <a:ext cx="1858045" cy="5466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>
            <a:solidFill>
              <a:srgbClr val="2B2F36">
                <a:alpha val="100000"/>
              </a:srgbClr>
            </a:solidFill>
            <a:prstDash val="solid"/>
            <a:headEnd type="none" w="lg" len="lg"/>
            <a:tailEnd type="arrow" w="lg" len="lg"/>
          </a:ln>
        </p:spPr>
      </p:cxnSp>
      <p:sp>
        <p:nvSpPr>
          <p:cNvPr id="10" name="AutoShape 10"/>
          <p:cNvSpPr/>
          <p:nvPr/>
        </p:nvSpPr>
        <p:spPr>
          <a:xfrm>
            <a:off x="6115104" y="5631209"/>
            <a:ext cx="2895600" cy="7112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700" b="1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Followed by</a:t>
            </a:r>
            <a:endParaRPr lang="en-US" sz="1100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1660" y="5749488"/>
            <a:ext cx="1386724" cy="1258850"/>
          </a:xfrm>
          <a:prstGeom prst="rect">
            <a:avLst/>
          </a:prstGeom>
          <a:ln>
            <a:noFill/>
            <a:prstDash val="solid"/>
          </a:ln>
        </p:spPr>
      </p:pic>
      <p:sp>
        <p:nvSpPr>
          <p:cNvPr id="12" name="AutoShape 12"/>
          <p:cNvSpPr/>
          <p:nvPr/>
        </p:nvSpPr>
        <p:spPr>
          <a:xfrm>
            <a:off x="10663923" y="5143500"/>
            <a:ext cx="1858849" cy="711200"/>
          </a:xfrm>
          <a:prstGeom prst="rightArrow">
            <a:avLst/>
          </a:prstGeom>
          <a:solidFill>
            <a:srgbClr val="00285E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12748733" y="4870786"/>
            <a:ext cx="4041648" cy="12954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viral of short video platform?</a:t>
            </a:r>
            <a:endParaRPr lang="en-US" sz="1100"/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4915" y="1586692"/>
            <a:ext cx="13252139" cy="7819800"/>
          </a:xfrm>
          <a:prstGeom prst="rect">
            <a:avLst/>
          </a:prstGeom>
          <a:ln>
            <a:noFill/>
            <a:prstDash val="solid"/>
          </a:ln>
        </p:spPr>
      </p:pic>
      <p:sp>
        <p:nvSpPr>
          <p:cNvPr id="3" name="AutoShape 3"/>
          <p:cNvSpPr/>
          <p:nvPr/>
        </p:nvSpPr>
        <p:spPr>
          <a:xfrm>
            <a:off x="26232" y="266700"/>
            <a:ext cx="11102403" cy="15494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0" rIns="0" bIns="0" rtlCol="0" anchor="t">
            <a:spAutoFit/>
          </a:bodyPr>
          <a:lstStyle/>
          <a:p>
            <a:pPr indent="0" algn="ctr">
              <a:lnSpc>
                <a:spcPts val="10080"/>
              </a:lnSpc>
              <a:defRPr/>
            </a:pPr>
            <a:r>
              <a:rPr lang="en-US" sz="60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Data exploration</a:t>
            </a:r>
            <a:r>
              <a:rPr lang="en-US" sz="60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(Groupby)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352" y="73376"/>
            <a:ext cx="4041648" cy="1188720"/>
          </a:xfrm>
          <a:prstGeom prst="rect">
            <a:avLst/>
          </a:prstGeom>
          <a:ln w="25400">
            <a:noFill/>
            <a:prstDash val="solid"/>
          </a:ln>
        </p:spPr>
      </p:pic>
      <p:sp>
        <p:nvSpPr>
          <p:cNvPr id="5" name="AutoShape 5"/>
          <p:cNvSpPr/>
          <p:nvPr/>
        </p:nvSpPr>
        <p:spPr>
          <a:xfrm>
            <a:off x="13672323" y="3439193"/>
            <a:ext cx="4615677" cy="41148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28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     TOP 5 Countries</a:t>
            </a:r>
            <a:endParaRPr lang="en-US" sz="1100"/>
          </a:p>
          <a:p>
            <a:pPr marL="457200" indent="-457200" algn="l">
              <a:lnSpc>
                <a:spcPct val="125000"/>
              </a:lnSpc>
              <a:buClr>
                <a:srgbClr val="00285E"/>
              </a:buClr>
              <a:buFont typeface="+mj-lt"/>
              <a:buAutoNum type="arabicPeriod"/>
            </a:pPr>
            <a:r>
              <a:rPr lang="en-US" sz="3600" b="1" i="0" u="none" strike="noStrike">
                <a:solidFill>
                  <a:srgbClr val="0028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USA</a:t>
            </a:r>
            <a:endParaRPr lang="en-US" sz="3600" b="1" i="0" u="none" strike="noStrike">
              <a:solidFill>
                <a:srgbClr val="00285E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457200" indent="-457200" algn="l">
              <a:lnSpc>
                <a:spcPct val="125000"/>
              </a:lnSpc>
              <a:buClr>
                <a:srgbClr val="00285E"/>
              </a:buClr>
              <a:buFont typeface="+mj-lt"/>
              <a:buAutoNum type="arabicPeriod"/>
            </a:pPr>
            <a:r>
              <a:rPr lang="en-US" sz="3600" b="1" i="0" u="none" strike="noStrike">
                <a:solidFill>
                  <a:srgbClr val="0028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Mexico</a:t>
            </a:r>
            <a:endParaRPr lang="en-US" sz="3600" b="1" i="0" u="none" strike="noStrike">
              <a:solidFill>
                <a:srgbClr val="00285E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457200" indent="-457200" algn="l">
              <a:lnSpc>
                <a:spcPct val="125000"/>
              </a:lnSpc>
              <a:buClr>
                <a:srgbClr val="00285E"/>
              </a:buClr>
              <a:buFont typeface="+mj-lt"/>
              <a:buAutoNum type="arabicPeriod"/>
            </a:pPr>
            <a:r>
              <a:rPr lang="en-US" sz="3600" b="1" i="0" u="none" strike="noStrike">
                <a:solidFill>
                  <a:srgbClr val="0028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UK</a:t>
            </a:r>
            <a:endParaRPr lang="en-US" sz="3600" b="1" i="0" u="none" strike="noStrike">
              <a:solidFill>
                <a:srgbClr val="00285E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457200" indent="-457200" algn="l">
              <a:lnSpc>
                <a:spcPct val="125000"/>
              </a:lnSpc>
              <a:buClr>
                <a:srgbClr val="00285E"/>
              </a:buClr>
              <a:buFont typeface="+mj-lt"/>
              <a:buAutoNum type="arabicPeriod"/>
            </a:pPr>
            <a:r>
              <a:rPr lang="en-US" sz="3600" b="1" i="0" u="none" strike="noStrike">
                <a:solidFill>
                  <a:srgbClr val="0028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Turkey</a:t>
            </a:r>
            <a:endParaRPr lang="en-US" sz="3600" b="1" i="0" u="none" strike="noStrike">
              <a:solidFill>
                <a:srgbClr val="00285E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457200" indent="-457200" algn="l">
              <a:lnSpc>
                <a:spcPct val="125000"/>
              </a:lnSpc>
              <a:buClr>
                <a:srgbClr val="00285E"/>
              </a:buClr>
              <a:buFont typeface="+mj-lt"/>
              <a:buAutoNum type="arabicPeriod"/>
            </a:pPr>
            <a:r>
              <a:rPr lang="en-US" sz="3600" b="1" i="0" u="none" strike="noStrike">
                <a:solidFill>
                  <a:srgbClr val="0028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Russia</a:t>
            </a:r>
            <a:endParaRPr lang="en-US" sz="3600" b="1" i="0" u="none" strike="noStrike">
              <a:solidFill>
                <a:srgbClr val="00285E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37054" y="3439193"/>
            <a:ext cx="664099" cy="664099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626670"/>
            <a:ext cx="12062294" cy="8462888"/>
          </a:xfrm>
          <a:prstGeom prst="rect">
            <a:avLst/>
          </a:prstGeom>
          <a:ln>
            <a:noFill/>
            <a:prstDash val="solid"/>
          </a:ln>
        </p:spPr>
      </p:pic>
      <p:sp>
        <p:nvSpPr>
          <p:cNvPr id="3" name="AutoShape 3"/>
          <p:cNvSpPr/>
          <p:nvPr/>
        </p:nvSpPr>
        <p:spPr>
          <a:xfrm>
            <a:off x="12175991" y="3824824"/>
            <a:ext cx="5930900" cy="37719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3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We notice a strong </a:t>
            </a:r>
            <a:r>
              <a:rPr lang="en-US" sz="3300" b="1" i="0" u="none" strike="noStrike">
                <a:solidFill>
                  <a:srgbClr val="2EA121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negative </a:t>
            </a:r>
            <a:r>
              <a:rPr lang="en-US" sz="33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correlation </a:t>
            </a:r>
            <a:endParaRPr lang="en-US" sz="1100"/>
          </a:p>
          <a:p>
            <a:pPr marL="419100" indent="-419100" algn="l">
              <a:lnSpc>
                <a:spcPct val="125000"/>
              </a:lnSpc>
              <a:buClr>
                <a:srgbClr val="00285E"/>
              </a:buClr>
              <a:buChar char="•"/>
            </a:pPr>
            <a:r>
              <a:rPr lang="en-US" sz="33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Sleep Hours</a:t>
            </a:r>
            <a:r>
              <a:rPr lang="en-US" sz="33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vs.Average Daily Usage Hours. </a:t>
            </a:r>
            <a:endParaRPr lang="en-US" sz="3300" b="1" i="0" u="none" strike="noStrike">
              <a:solidFill>
                <a:srgbClr val="00285E"/>
              </a:solidFill>
              <a:highlight>
                <a:srgbClr val="FFFFFF">
                  <a:alpha val="0"/>
                </a:srgbClr>
              </a:highlight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419100" indent="-419100" algn="l">
              <a:lnSpc>
                <a:spcPct val="125000"/>
              </a:lnSpc>
              <a:buClr>
                <a:srgbClr val="00285E"/>
              </a:buClr>
              <a:buChar char="•"/>
            </a:pPr>
            <a:r>
              <a:rPr lang="en-US" sz="33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Mental Health </a:t>
            </a:r>
            <a:r>
              <a:rPr lang="en-US" sz="33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vs. </a:t>
            </a:r>
            <a:r>
              <a:rPr lang="en-US" sz="33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Average Daily Usage Hours.  </a:t>
            </a:r>
            <a:endParaRPr lang="en-US" sz="3300" b="1" i="0" u="none" strike="noStrike">
              <a:solidFill>
                <a:srgbClr val="00285E"/>
              </a:solidFill>
              <a:highlight>
                <a:srgbClr val="FFFFFF">
                  <a:alpha val="0"/>
                </a:srgbClr>
              </a:highlight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-1323038" y="289110"/>
            <a:ext cx="14379239" cy="15494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0" rIns="0" bIns="0" rtlCol="0" anchor="t">
            <a:spAutoFit/>
          </a:bodyPr>
          <a:lstStyle/>
          <a:p>
            <a:pPr indent="0" algn="ctr">
              <a:lnSpc>
                <a:spcPts val="10080"/>
              </a:lnSpc>
              <a:defRPr/>
            </a:pPr>
            <a:r>
              <a:rPr lang="en-US" sz="60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Data exploration</a:t>
            </a:r>
            <a:r>
              <a:rPr lang="en-US" sz="60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(Heat Map)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2300794" y="8065785"/>
            <a:ext cx="5219700" cy="14859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9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Plot the graphs to check them out!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5108366" y="2892690"/>
            <a:ext cx="1516429" cy="1467512"/>
          </a:xfrm>
          <a:prstGeom prst="ellipse">
            <a:avLst/>
          </a:prstGeom>
          <a:noFill/>
          <a:ln w="101600" cap="flat" cmpd="sng">
            <a:solidFill>
              <a:srgbClr val="2B2F36">
                <a:alpha val="100000"/>
              </a:srgbClr>
            </a:solidFill>
            <a:prstDash val="solid"/>
            <a:round/>
          </a:ln>
        </p:spPr>
        <p:txBody>
          <a:bodyPr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3667959" y="4944279"/>
            <a:ext cx="1516429" cy="1467512"/>
          </a:xfrm>
          <a:prstGeom prst="ellipse">
            <a:avLst/>
          </a:prstGeom>
          <a:noFill/>
          <a:ln w="101600" cap="flat" cmpd="sng">
            <a:solidFill>
              <a:srgbClr val="2B2F36">
                <a:alpha val="100000"/>
              </a:srgbClr>
            </a:solidFill>
            <a:prstDash val="solid"/>
            <a:round/>
          </a:ln>
        </p:spPr>
        <p:txBody>
          <a:bodyPr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5991" y="1481528"/>
            <a:ext cx="5469306" cy="2223852"/>
          </a:xfrm>
          <a:prstGeom prst="rect">
            <a:avLst/>
          </a:prstGeom>
          <a:ln>
            <a:noFill/>
            <a:prstDash val="solid"/>
          </a:ln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6352" y="73376"/>
            <a:ext cx="4041648" cy="1188720"/>
          </a:xfrm>
          <a:prstGeom prst="rect">
            <a:avLst/>
          </a:prstGeom>
          <a:ln w="25400">
            <a:noFill/>
            <a:prstDash val="solid"/>
          </a:ln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0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53706" y="2908779"/>
            <a:ext cx="11292431" cy="7378221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3" name="AutoShape 3"/>
          <p:cNvSpPr/>
          <p:nvPr/>
        </p:nvSpPr>
        <p:spPr>
          <a:xfrm>
            <a:off x="-2652073" y="-92005"/>
            <a:ext cx="19304000" cy="15113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0" rIns="0" bIns="0" rtlCol="0" anchor="t">
            <a:spAutoFit/>
          </a:bodyPr>
          <a:lstStyle/>
          <a:p>
            <a:pPr indent="0" algn="ctr">
              <a:lnSpc>
                <a:spcPts val="10080"/>
              </a:lnSpc>
              <a:defRPr/>
            </a:pPr>
            <a:r>
              <a:rPr lang="en-US" sz="51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Data exploration</a:t>
            </a:r>
            <a:r>
              <a:rPr lang="en-US" sz="51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(Scatter and Regressioion)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1349"/>
            <a:ext cx="18288000" cy="1755425"/>
          </a:xfrm>
          <a:prstGeom prst="rect">
            <a:avLst/>
          </a:prstGeom>
          <a:ln>
            <a:noFill/>
            <a:prstDash val="solid"/>
          </a:ln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7553" y="3579472"/>
            <a:ext cx="5747741" cy="3831827"/>
          </a:xfrm>
          <a:prstGeom prst="rect">
            <a:avLst/>
          </a:prstGeom>
          <a:ln>
            <a:noFill/>
            <a:prstDash val="solid"/>
          </a:ln>
        </p:spPr>
      </p:pic>
      <p:sp>
        <p:nvSpPr>
          <p:cNvPr id="6" name="AutoShape 6"/>
          <p:cNvSpPr/>
          <p:nvPr/>
        </p:nvSpPr>
        <p:spPr>
          <a:xfrm>
            <a:off x="12161725" y="8389448"/>
            <a:ext cx="5923864" cy="5207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27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significant negative influence!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86467" y="73376"/>
            <a:ext cx="3701533" cy="1085883"/>
          </a:xfrm>
          <a:prstGeom prst="rect">
            <a:avLst/>
          </a:prstGeom>
          <a:ln w="25400">
            <a:noFill/>
            <a:prstDash val="solid"/>
          </a:ln>
        </p:spPr>
      </p:pic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2939692"/>
            <a:ext cx="10907741" cy="7101583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3" name="AutoShape 3"/>
          <p:cNvSpPr/>
          <p:nvPr/>
        </p:nvSpPr>
        <p:spPr>
          <a:xfrm>
            <a:off x="-2714670" y="-139333"/>
            <a:ext cx="19354800" cy="15113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0" rIns="0" bIns="0" rtlCol="0" anchor="t">
            <a:spAutoFit/>
          </a:bodyPr>
          <a:lstStyle/>
          <a:p>
            <a:pPr indent="0" algn="ctr">
              <a:lnSpc>
                <a:spcPts val="10080"/>
              </a:lnSpc>
              <a:defRPr/>
            </a:pPr>
            <a:r>
              <a:rPr lang="en-US" sz="51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Data exploration</a:t>
            </a:r>
            <a:r>
              <a:rPr lang="en-US" sz="51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(Scatter and Regressioion)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03073"/>
            <a:ext cx="18288000" cy="1767649"/>
          </a:xfrm>
          <a:prstGeom prst="rect">
            <a:avLst/>
          </a:prstGeom>
          <a:ln>
            <a:noFill/>
            <a:prstDash val="solid"/>
          </a:ln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4535" y="3297937"/>
            <a:ext cx="5923864" cy="3965698"/>
          </a:xfrm>
          <a:prstGeom prst="rect">
            <a:avLst/>
          </a:prstGeom>
          <a:ln>
            <a:noFill/>
            <a:prstDash val="solid"/>
          </a:ln>
        </p:spPr>
      </p:pic>
      <p:sp>
        <p:nvSpPr>
          <p:cNvPr id="6" name="AutoShape 6"/>
          <p:cNvSpPr/>
          <p:nvPr/>
        </p:nvSpPr>
        <p:spPr>
          <a:xfrm>
            <a:off x="11748702" y="8270576"/>
            <a:ext cx="5923864" cy="5207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27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significant negative influence!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86467" y="73376"/>
            <a:ext cx="3701533" cy="1085883"/>
          </a:xfrm>
          <a:prstGeom prst="rect">
            <a:avLst/>
          </a:prstGeom>
          <a:ln w="25400">
            <a:noFill/>
            <a:prstDash val="solid"/>
          </a:ln>
        </p:spPr>
      </p:pic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172788" y="1506082"/>
            <a:ext cx="10807700" cy="5715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non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Pivot Table: Average Addiction Score by Academic Level and Gender:</a:t>
            </a:r>
            <a:endParaRPr lang="en-US" sz="1100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929" y="3582111"/>
            <a:ext cx="7642794" cy="3783373"/>
          </a:xfrm>
          <a:prstGeom prst="rect">
            <a:avLst/>
          </a:prstGeom>
          <a:ln>
            <a:noFill/>
            <a:prstDash val="solid"/>
          </a:ln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29" y="2244238"/>
            <a:ext cx="16408142" cy="1062644"/>
          </a:xfrm>
          <a:prstGeom prst="rect">
            <a:avLst/>
          </a:prstGeom>
          <a:ln>
            <a:noFill/>
            <a:prstDash val="solid"/>
          </a:ln>
        </p:spPr>
      </p:pic>
      <p:sp>
        <p:nvSpPr>
          <p:cNvPr id="5" name="AutoShape 5"/>
          <p:cNvSpPr/>
          <p:nvPr/>
        </p:nvSpPr>
        <p:spPr>
          <a:xfrm>
            <a:off x="-176315" y="242432"/>
            <a:ext cx="13254754" cy="15494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0" rIns="0" bIns="0" rtlCol="0" anchor="t">
            <a:spAutoFit/>
          </a:bodyPr>
          <a:lstStyle/>
          <a:p>
            <a:pPr indent="0" algn="ctr">
              <a:lnSpc>
                <a:spcPts val="10080"/>
              </a:lnSpc>
              <a:defRPr/>
            </a:pPr>
            <a:r>
              <a:rPr lang="en-US" sz="60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Data exploration</a:t>
            </a:r>
            <a:r>
              <a:rPr lang="en-US" sz="60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(Pivot Table)</a:t>
            </a:r>
            <a:endParaRPr lang="en-US" sz="110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6467" y="73376"/>
            <a:ext cx="3701533" cy="1085883"/>
          </a:xfrm>
          <a:prstGeom prst="rect">
            <a:avLst/>
          </a:prstGeom>
          <a:ln w="25400">
            <a:noFill/>
            <a:prstDash val="solid"/>
          </a:ln>
        </p:spPr>
      </p:pic>
      <p:sp>
        <p:nvSpPr>
          <p:cNvPr id="7" name="AutoShape 7"/>
          <p:cNvSpPr/>
          <p:nvPr/>
        </p:nvSpPr>
        <p:spPr>
          <a:xfrm>
            <a:off x="4509763" y="5851498"/>
            <a:ext cx="3882598" cy="809641"/>
          </a:xfrm>
          <a:prstGeom prst="roundRect">
            <a:avLst>
              <a:gd name="adj" fmla="val 0"/>
            </a:avLst>
          </a:prstGeom>
          <a:noFill/>
          <a:ln w="76200" cap="flat" cmpd="sng">
            <a:solidFill>
              <a:srgbClr val="D83931">
                <a:alpha val="100000"/>
              </a:srgbClr>
            </a:solidFill>
            <a:prstDash val="solid"/>
            <a:round/>
          </a:ln>
        </p:spPr>
        <p:txBody>
          <a:bodyPr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8" name="Connector 8"/>
          <p:cNvCxnSpPr/>
          <p:nvPr/>
        </p:nvCxnSpPr>
        <p:spPr>
          <a:xfrm>
            <a:off x="8379661" y="6256200"/>
            <a:ext cx="1361669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D83931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id="9" name="AutoShape 9"/>
          <p:cNvSpPr/>
          <p:nvPr/>
        </p:nvSpPr>
        <p:spPr>
          <a:xfrm>
            <a:off x="10076918" y="3877918"/>
            <a:ext cx="7642794" cy="17780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1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high school students are more susceptible to social media,  with girls addiction score slightly higher</a:t>
            </a:r>
            <a:endParaRPr lang="en-US" sz="1100"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918" y="5851498"/>
            <a:ext cx="6726098" cy="3808237"/>
          </a:xfrm>
          <a:prstGeom prst="rect">
            <a:avLst/>
          </a:prstGeom>
          <a:ln>
            <a:noFill/>
            <a:prstDash val="solid"/>
          </a:ln>
        </p:spPr>
      </p:pic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3570813" y="73376"/>
            <a:ext cx="14515426" cy="15494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0" tIns="0" rIns="0" bIns="0" rtlCol="0" anchor="t" anchorCtr="1">
            <a:spAutoFit/>
          </a:bodyPr>
          <a:lstStyle/>
          <a:p>
            <a:pPr indent="0" algn="ctr">
              <a:lnSpc>
                <a:spcPts val="10080"/>
              </a:lnSpc>
              <a:defRPr/>
            </a:pPr>
            <a:r>
              <a:rPr lang="en-US" sz="60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Hypothesis testing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88119" y="1746672"/>
            <a:ext cx="15544800" cy="7239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0" rIns="0" bIns="0" rtlCol="0" anchor="t">
            <a:spAutoFit/>
          </a:bodyPr>
          <a:lstStyle/>
          <a:p>
            <a:pPr indent="0" algn="l">
              <a:lnSpc>
                <a:spcPct val="150000"/>
              </a:lnSpc>
              <a:defRPr/>
            </a:pPr>
            <a:r>
              <a:rPr lang="en-US" sz="4800" b="0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Null Hypothesis:</a:t>
            </a:r>
            <a:endParaRPr lang="en-US" sz="1100"/>
          </a:p>
          <a:p>
            <a:pPr marL="457200" lvl="1" indent="0" algn="l">
              <a:lnSpc>
                <a:spcPct val="125000"/>
              </a:lnSpc>
            </a:pPr>
            <a:r>
              <a:rPr lang="en-US" sz="3200" b="1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There is </a:t>
            </a:r>
            <a:r>
              <a:rPr lang="en-US" sz="3200" b="1" i="0" u="none" strike="noStrike">
                <a:solidFill>
                  <a:srgbClr val="D83931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no difference</a:t>
            </a:r>
            <a:r>
              <a:rPr lang="en-US" sz="3200" b="1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between the two groups in terms of average social media usage hours.</a:t>
            </a:r>
            <a:endParaRPr lang="en-US" sz="3200" b="1" i="0" u="none" strike="noStrike">
              <a:solidFill>
                <a:srgbClr val="000000"/>
              </a:solidFill>
              <a:highlight>
                <a:srgbClr val="FFFFFF">
                  <a:alpha val="0"/>
                </a:srgbClr>
              </a:highlight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457200" lvl="1" indent="0" algn="l">
              <a:lnSpc>
                <a:spcPct val="125000"/>
              </a:lnSpc>
            </a:pPr>
            <a:r>
              <a:rPr lang="en-US" sz="3200" b="1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- In other words, the difference we saw was due to </a:t>
            </a:r>
            <a:r>
              <a:rPr lang="en-US" sz="3200" b="1" i="0" u="none" strike="noStrike">
                <a:solidFill>
                  <a:srgbClr val="D83931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random chance</a:t>
            </a:r>
            <a:r>
              <a:rPr lang="en-US" sz="3200" b="1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.</a:t>
            </a:r>
            <a:endParaRPr lang="en-US" sz="3200" b="1" i="0" u="none" strike="noStrike">
              <a:solidFill>
                <a:srgbClr val="000000"/>
              </a:solidFill>
              <a:highlight>
                <a:srgbClr val="FFFFFF">
                  <a:alpha val="0"/>
                </a:srgbClr>
              </a:highlight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indent="0" algn="l">
              <a:lnSpc>
                <a:spcPct val="150000"/>
              </a:lnSpc>
            </a:pPr>
            <a:r>
              <a:rPr lang="en-US" sz="4800" b="0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Alternative Hypothesis:</a:t>
            </a:r>
            <a:endParaRPr lang="en-US" sz="4800" b="0" i="0" u="none" strike="noStrike">
              <a:solidFill>
                <a:srgbClr val="00285E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457200" lvl="1" indent="0" algn="l">
              <a:lnSpc>
                <a:spcPct val="150000"/>
              </a:lnSpc>
            </a:pPr>
            <a:r>
              <a:rPr lang="en-US" sz="3200" b="1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There is a </a:t>
            </a:r>
            <a:r>
              <a:rPr lang="en-US" sz="3200" b="1" i="0" u="none" strike="noStrike">
                <a:solidFill>
                  <a:srgbClr val="D83931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significant difference</a:t>
            </a:r>
            <a:r>
              <a:rPr lang="en-US" sz="3200" b="1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in average social media usage between</a:t>
            </a:r>
            <a:r>
              <a:rPr lang="en-US" sz="3200" b="1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two groups</a:t>
            </a:r>
            <a:endParaRPr lang="en-US" sz="3200" b="1" i="0" u="none" strike="noStrike">
              <a:solidFill>
                <a:srgbClr val="000000"/>
              </a:solidFill>
              <a:highlight>
                <a:srgbClr val="FFFFFF">
                  <a:alpha val="0"/>
                </a:srgbClr>
              </a:highlight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457200" lvl="1" indent="0" algn="l">
              <a:lnSpc>
                <a:spcPct val="150000"/>
              </a:lnSpc>
            </a:pPr>
            <a:r>
              <a:rPr lang="en-US" sz="3200" b="1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- In other words, what we saw cannot be explained by random chance alone, and there is instead </a:t>
            </a:r>
            <a:r>
              <a:rPr lang="en-US" sz="3200" b="1" i="0" u="none" strike="noStrike">
                <a:solidFill>
                  <a:srgbClr val="D83931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 meaningful difference</a:t>
            </a:r>
            <a:r>
              <a:rPr lang="en-US" sz="3200" b="1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in these distributions.</a:t>
            </a:r>
            <a:endParaRPr lang="en-US" sz="3200" b="1" i="0" u="none" strike="noStrike">
              <a:solidFill>
                <a:srgbClr val="000000"/>
              </a:solidFill>
              <a:highlight>
                <a:srgbClr val="FFFFFF">
                  <a:alpha val="0"/>
                </a:srgbClr>
              </a:highlight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indent="0" algn="l">
              <a:lnSpc>
                <a:spcPct val="150000"/>
              </a:lnSpc>
            </a:pPr>
          </a:p>
          <a:p>
            <a:pPr indent="0" algn="l">
              <a:lnSpc>
                <a:spcPct val="150000"/>
              </a:lnSpc>
            </a:pPr>
            <a:r>
              <a:rPr lang="en-US" sz="18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endParaRPr lang="en-US" sz="18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217914" y="1155700"/>
            <a:ext cx="15544800" cy="762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0" tIns="0" rIns="0" bIns="0" rtlCol="0" anchor="t" anchorCtr="1">
            <a:spAutoFit/>
          </a:bodyPr>
          <a:lstStyle/>
          <a:p>
            <a:pPr marL="508000" indent="-508000" algn="l">
              <a:lnSpc>
                <a:spcPct val="125000"/>
              </a:lnSpc>
              <a:buClr>
                <a:srgbClr val="000000"/>
              </a:buClr>
              <a:buFont typeface="+mj-lt"/>
              <a:buAutoNum type="arabicPeriod"/>
              <a:defRPr/>
            </a:pPr>
            <a:r>
              <a:rPr lang="en-US" sz="4000" b="1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Academic Performance and Usage Hours</a:t>
            </a:r>
            <a:r>
              <a:rPr lang="en-US" sz="4000" b="1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(Permutation)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5455" y="7937922"/>
            <a:ext cx="7531100" cy="2095500"/>
          </a:xfrm>
          <a:prstGeom prst="rect">
            <a:avLst/>
          </a:prstGeom>
          <a:ln>
            <a:noFill/>
            <a:prstDash val="solid"/>
          </a:ln>
        </p:spPr>
      </p:pic>
      <p:sp>
        <p:nvSpPr>
          <p:cNvPr id="6" name="AutoShape 6"/>
          <p:cNvSpPr/>
          <p:nvPr/>
        </p:nvSpPr>
        <p:spPr>
          <a:xfrm>
            <a:off x="9460915" y="8477672"/>
            <a:ext cx="6819900" cy="10160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2900" b="1" i="0" u="none" strike="noStrike">
                <a:solidFill>
                  <a:srgbClr val="0028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Test Statistics: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2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Average Mean difference=5.53-3.80= </a:t>
            </a:r>
            <a:r>
              <a:rPr lang="en-US" sz="2400" b="1" i="0" u="none" strike="noStrike">
                <a:solidFill>
                  <a:srgbClr val="D8393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1.73</a:t>
            </a:r>
            <a:endParaRPr lang="en-US" sz="2400" b="1" i="0" u="none" strike="noStrike">
              <a:solidFill>
                <a:srgbClr val="D8393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86467" y="73376"/>
            <a:ext cx="3701533" cy="1085883"/>
          </a:xfrm>
          <a:prstGeom prst="rect">
            <a:avLst/>
          </a:prstGeom>
          <a:ln w="25400">
            <a:noFill/>
            <a:prstDash val="solid"/>
          </a:ln>
        </p:spPr>
      </p:pic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758081" y="0"/>
            <a:ext cx="9118600" cy="153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0" tIns="0" rIns="0" bIns="0" rtlCol="0" anchor="t" anchorCtr="1">
            <a:spAutoFit/>
          </a:bodyPr>
          <a:lstStyle/>
          <a:p>
            <a:pPr indent="0" algn="ctr">
              <a:lnSpc>
                <a:spcPts val="10080"/>
              </a:lnSpc>
              <a:defRPr/>
            </a:pPr>
            <a:r>
              <a:rPr lang="en-US" sz="60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Hypothesis testing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438041" y="1141451"/>
            <a:ext cx="17995900" cy="8763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0" tIns="0" rIns="0" bIns="0" rtlCol="0" anchor="t" anchorCtr="1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4600" b="0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Simulation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041" y="1908644"/>
            <a:ext cx="14836674" cy="8231149"/>
          </a:xfrm>
          <a:prstGeom prst="rect">
            <a:avLst/>
          </a:prstGeom>
          <a:ln>
            <a:noFill/>
            <a:prstDash val="solid"/>
          </a:ln>
        </p:spPr>
      </p:pic>
      <p:sp>
        <p:nvSpPr>
          <p:cNvPr id="5" name="AutoShape 5"/>
          <p:cNvSpPr/>
          <p:nvPr/>
        </p:nvSpPr>
        <p:spPr>
          <a:xfrm>
            <a:off x="9435991" y="3866120"/>
            <a:ext cx="7863828" cy="18288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On each iteration: 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24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1. Shuffle the average daily social media usage hour. </a:t>
            </a:r>
            <a:endParaRPr lang="en-US" sz="2400" b="1" i="0" u="none" strike="noStrike">
              <a:solidFill>
                <a:srgbClr val="00285E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l">
              <a:lnSpc>
                <a:spcPct val="125000"/>
              </a:lnSpc>
            </a:pPr>
            <a:r>
              <a:rPr lang="en-US" sz="24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2. Put them in a DataFrame. </a:t>
            </a:r>
            <a:endParaRPr lang="en-US" sz="2400" b="1" i="0" u="none" strike="noStrike">
              <a:solidFill>
                <a:srgbClr val="00285E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l">
              <a:lnSpc>
                <a:spcPct val="125000"/>
              </a:lnSpc>
            </a:pPr>
            <a:r>
              <a:rPr lang="en-US" sz="24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3. Compute the difference in group means.</a:t>
            </a:r>
            <a:endParaRPr lang="en-US" sz="2400" b="1" i="0" u="none" strike="noStrike">
              <a:solidFill>
                <a:srgbClr val="00285E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86467" y="73376"/>
            <a:ext cx="3701533" cy="1085883"/>
          </a:xfrm>
          <a:prstGeom prst="rect">
            <a:avLst/>
          </a:prstGeom>
          <a:ln w="25400">
            <a:noFill/>
            <a:prstDash val="solid"/>
          </a:ln>
        </p:spPr>
      </p:pic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758081" y="0"/>
            <a:ext cx="9118600" cy="153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0" tIns="0" rIns="0" bIns="0" rtlCol="0" anchor="t" anchorCtr="1">
            <a:spAutoFit/>
          </a:bodyPr>
          <a:lstStyle/>
          <a:p>
            <a:pPr indent="0" algn="ctr">
              <a:lnSpc>
                <a:spcPts val="10080"/>
              </a:lnSpc>
              <a:defRPr/>
            </a:pPr>
            <a:r>
              <a:rPr lang="en-US" sz="60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Hypothesis testing</a:t>
            </a:r>
            <a:endParaRPr lang="en-US" sz="1100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766" y="2512173"/>
            <a:ext cx="9742740" cy="7096563"/>
          </a:xfrm>
          <a:prstGeom prst="rect">
            <a:avLst/>
          </a:prstGeom>
          <a:ln>
            <a:noFill/>
            <a:prstDash val="solid"/>
          </a:ln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766" y="1330473"/>
            <a:ext cx="15238389" cy="880751"/>
          </a:xfrm>
          <a:prstGeom prst="rect">
            <a:avLst/>
          </a:prstGeom>
          <a:ln>
            <a:noFill/>
            <a:prstDash val="solid"/>
          </a:ln>
        </p:spPr>
      </p:pic>
      <p:sp>
        <p:nvSpPr>
          <p:cNvPr id="5" name="AutoShape 5"/>
          <p:cNvSpPr/>
          <p:nvPr/>
        </p:nvSpPr>
        <p:spPr>
          <a:xfrm>
            <a:off x="10190141" y="1770849"/>
            <a:ext cx="7315200" cy="51435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vert="horz" wrap="square" lIns="0" tIns="0" rIns="0" bIns="0" rtlCol="0" anchor="ctr" anchorCtr="1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</a:p>
          <a:p>
            <a:pPr marL="342900" indent="-342900" algn="l">
              <a:lnSpc>
                <a:spcPct val="125000"/>
              </a:lnSpc>
              <a:buClr>
                <a:srgbClr val="00285E"/>
              </a:buClr>
              <a:buChar char="•"/>
            </a:pPr>
            <a:r>
              <a:rPr lang="en-US" sz="2700" b="0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Un</a:t>
            </a:r>
            <a:r>
              <a:rPr lang="en-US" sz="2700" b="0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der the null hypothesis, we rarely see differences as large as this.</a:t>
            </a:r>
            <a:endParaRPr lang="en-US" sz="2700" b="0" i="0" u="none" strike="noStrike">
              <a:solidFill>
                <a:srgbClr val="00285E"/>
              </a:solidFill>
              <a:highlight>
                <a:srgbClr val="FFFFFF">
                  <a:alpha val="0"/>
                </a:srgbClr>
              </a:highlight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342900" indent="-342900" algn="l">
              <a:lnSpc>
                <a:spcPct val="125000"/>
              </a:lnSpc>
              <a:buClr>
                <a:srgbClr val="00285E"/>
              </a:buClr>
              <a:buChar char="•"/>
            </a:pPr>
            <a:r>
              <a:rPr lang="en-US" sz="2700" b="0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Therefore, we</a:t>
            </a:r>
            <a:r>
              <a:rPr lang="en-US" sz="27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reject the null hypothesis</a:t>
            </a:r>
            <a:r>
              <a:rPr lang="en-US" sz="2700" b="0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: the two groups do not come from the same distribution.</a:t>
            </a:r>
            <a:endParaRPr lang="en-US" sz="2700" b="0" i="0" u="none" strike="noStrike">
              <a:solidFill>
                <a:srgbClr val="00285E"/>
              </a:solidFill>
              <a:highlight>
                <a:srgbClr val="FFFFFF">
                  <a:alpha val="0"/>
                </a:srgbClr>
              </a:highlight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342900" indent="-342900" algn="l">
              <a:lnSpc>
                <a:spcPct val="125000"/>
              </a:lnSpc>
              <a:buClr>
                <a:srgbClr val="00285E"/>
              </a:buClr>
              <a:buChar char="•"/>
            </a:pPr>
            <a:r>
              <a:rPr lang="en-US" sz="2700" b="0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That is to say, there may be</a:t>
            </a:r>
            <a:r>
              <a:rPr lang="en-US" sz="27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meaningful relationship</a:t>
            </a:r>
            <a:r>
              <a:rPr lang="en-US" sz="2700" b="0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between average daily social media usage time and academic performance.</a:t>
            </a:r>
            <a:endParaRPr lang="en-US" sz="2700" b="0" i="0" u="none" strike="noStrike">
              <a:solidFill>
                <a:srgbClr val="00285E"/>
              </a:solidFill>
              <a:highlight>
                <a:srgbClr val="FFFFFF">
                  <a:alpha val="0"/>
                </a:srgbClr>
              </a:highlight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6467" y="73376"/>
            <a:ext cx="3701533" cy="1085883"/>
          </a:xfrm>
          <a:prstGeom prst="rect">
            <a:avLst/>
          </a:prstGeom>
          <a:ln w="25400">
            <a:noFill/>
            <a:prstDash val="solid"/>
          </a:ln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3252" y="6424531"/>
            <a:ext cx="4448405" cy="3708858"/>
          </a:xfrm>
          <a:prstGeom prst="rect">
            <a:avLst/>
          </a:prstGeom>
          <a:ln>
            <a:noFill/>
            <a:prstDash val="solid"/>
          </a:ln>
        </p:spPr>
      </p:pic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758081" y="0"/>
            <a:ext cx="9118600" cy="153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0" tIns="0" rIns="0" bIns="0" rtlCol="0" anchor="t" anchorCtr="1">
            <a:spAutoFit/>
          </a:bodyPr>
          <a:lstStyle/>
          <a:p>
            <a:pPr indent="0" algn="ctr">
              <a:lnSpc>
                <a:spcPts val="10080"/>
              </a:lnSpc>
              <a:defRPr/>
            </a:pPr>
            <a:r>
              <a:rPr lang="en-US" sz="60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Hypothesis testing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851349" y="3846824"/>
            <a:ext cx="15544800" cy="5410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0" tIns="0" rIns="0" bIns="0" rtlCol="0" anchor="t" anchorCtr="1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</a:p>
          <a:p>
            <a:pPr indent="0" algn="l">
              <a:lnSpc>
                <a:spcPct val="125000"/>
              </a:lnSpc>
            </a:pPr>
          </a:p>
          <a:p>
            <a:pPr indent="0" algn="l">
              <a:lnSpc>
                <a:spcPct val="125000"/>
              </a:lnSpc>
            </a:pPr>
          </a:p>
          <a:p>
            <a:pPr indent="0" algn="l">
              <a:lnSpc>
                <a:spcPct val="125000"/>
              </a:lnSpc>
            </a:pPr>
          </a:p>
          <a:p>
            <a:pPr indent="0" algn="l">
              <a:lnSpc>
                <a:spcPct val="125000"/>
              </a:lnSpc>
            </a:pPr>
          </a:p>
          <a:p>
            <a:pPr indent="0" algn="l">
              <a:lnSpc>
                <a:spcPct val="125000"/>
              </a:lnSpc>
            </a:pPr>
            <a:r>
              <a:rPr lang="en-US" sz="35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H_0:</a:t>
            </a:r>
            <a:r>
              <a:rPr lang="en-US" sz="3500" b="1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There is </a:t>
            </a:r>
            <a:r>
              <a:rPr lang="en-US" sz="3500" b="1" i="0" u="none" strike="noStrike">
                <a:solidFill>
                  <a:srgbClr val="D83931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no significant difference</a:t>
            </a:r>
            <a:r>
              <a:rPr lang="en-US" sz="3500" b="1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in the addicted score between students in complicated relationships and those in simple relationships.</a:t>
            </a:r>
            <a:endParaRPr lang="en-US" sz="3500" b="1" i="0" u="none" strike="noStrike">
              <a:solidFill>
                <a:srgbClr val="000000"/>
              </a:solidFill>
              <a:highlight>
                <a:srgbClr val="FFFFFF">
                  <a:alpha val="0"/>
                </a:srgbClr>
              </a:highlight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indent="0" algn="l">
              <a:lnSpc>
                <a:spcPct val="125000"/>
              </a:lnSpc>
            </a:pPr>
            <a:r>
              <a:rPr lang="en-US" sz="35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H_1: </a:t>
            </a:r>
            <a:r>
              <a:rPr lang="en-US" sz="3500" b="1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There is </a:t>
            </a:r>
            <a:r>
              <a:rPr lang="en-US" sz="3500" b="1" i="0" u="none" strike="noStrike">
                <a:solidFill>
                  <a:srgbClr val="D83931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 significant increase</a:t>
            </a:r>
            <a:r>
              <a:rPr lang="en-US" sz="3500" b="1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in the addicted score for students in complicated relationships than those in simple relationships.</a:t>
            </a:r>
            <a:endParaRPr lang="en-US" sz="3500" b="1" i="0" u="none" strike="noStrike">
              <a:solidFill>
                <a:srgbClr val="000000"/>
              </a:solidFill>
              <a:highlight>
                <a:srgbClr val="FFFFFF">
                  <a:alpha val="0"/>
                </a:srgbClr>
              </a:highlight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indent="0" algn="l">
              <a:lnSpc>
                <a:spcPct val="125000"/>
              </a:lnSpc>
            </a:pPr>
            <a:r>
              <a:rPr lang="en-US" sz="2400" b="0" i="0" u="none" strike="noStrike">
                <a:solidFill>
                  <a:srgbClr val="6425D0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endParaRPr lang="en-US" sz="2400" b="0" i="0" u="none" strike="noStrike">
              <a:solidFill>
                <a:srgbClr val="6425D0"/>
              </a:solidFill>
              <a:highlight>
                <a:srgbClr val="FFFFFF">
                  <a:alpha val="0"/>
                </a:srgbClr>
              </a:highlight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244745" y="1536700"/>
            <a:ext cx="15544800" cy="8001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0" tIns="0" rIns="0" bIns="0" rtlCol="0" anchor="t" anchorCtr="1">
            <a:spAutoFit/>
          </a:bodyPr>
          <a:lstStyle/>
          <a:p>
            <a:pPr marL="533400" indent="-533400" algn="l">
              <a:lnSpc>
                <a:spcPct val="125000"/>
              </a:lnSpc>
              <a:buClr>
                <a:srgbClr val="000000"/>
              </a:buClr>
              <a:buFont typeface="+mj-lt"/>
              <a:buAutoNum type="arabicPeriod"/>
              <a:defRPr/>
            </a:pPr>
            <a:r>
              <a:rPr lang="en-US" sz="4200" b="1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Relationship and Addiction</a:t>
            </a:r>
            <a:r>
              <a:rPr lang="en-US" sz="4200" b="0" i="0" u="none" strike="noStrike">
                <a:solidFill>
                  <a:srgbClr val="6425D0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r>
              <a:rPr lang="en-US" sz="4200" b="1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Score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1349" y="2594536"/>
            <a:ext cx="7712798" cy="2634058"/>
          </a:xfrm>
          <a:prstGeom prst="rect">
            <a:avLst/>
          </a:prstGeom>
          <a:ln>
            <a:noFill/>
            <a:prstDash val="solid"/>
          </a:ln>
        </p:spPr>
      </p:pic>
      <p:cxnSp>
        <p:nvCxnSpPr>
          <p:cNvPr id="6" name="Connector 6"/>
          <p:cNvCxnSpPr/>
          <p:nvPr/>
        </p:nvCxnSpPr>
        <p:spPr>
          <a:xfrm rot="-3396090">
            <a:off x="6944491" y="2173062"/>
            <a:ext cx="1972561" cy="1605825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00000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id="7" name="AutoShape 7"/>
          <p:cNvSpPr/>
          <p:nvPr/>
        </p:nvSpPr>
        <p:spPr>
          <a:xfrm>
            <a:off x="4848300" y="3169236"/>
            <a:ext cx="1881292" cy="368300"/>
          </a:xfrm>
          <a:prstGeom prst="roundRect">
            <a:avLst>
              <a:gd name="adj" fmla="val 0"/>
            </a:avLst>
          </a:prstGeom>
          <a:noFill/>
          <a:ln w="63500" cap="flat" cmpd="sng">
            <a:solidFill>
              <a:srgbClr val="D83931">
                <a:alpha val="100000"/>
              </a:srgbClr>
            </a:solidFill>
            <a:prstDash val="solid"/>
            <a:round/>
          </a:ln>
        </p:spPr>
        <p:txBody>
          <a:bodyPr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4356579" y="4206524"/>
            <a:ext cx="1432965" cy="482600"/>
          </a:xfrm>
          <a:prstGeom prst="roundRect">
            <a:avLst>
              <a:gd name="adj" fmla="val 0"/>
            </a:avLst>
          </a:prstGeom>
          <a:solidFill>
            <a:srgbClr val="FAD355">
              <a:alpha val="100000"/>
            </a:srgbClr>
          </a:solidFill>
          <a:ln w="63500" cap="flat" cmpd="sng">
            <a:noFill/>
            <a:prstDash val="solid"/>
            <a:round/>
          </a:ln>
        </p:spPr>
        <p:txBody>
          <a:bodyPr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4707748" y="3611340"/>
            <a:ext cx="2114656" cy="953883"/>
          </a:xfrm>
          <a:prstGeom prst="roundRect">
            <a:avLst>
              <a:gd name="adj" fmla="val 0"/>
            </a:avLst>
          </a:prstGeom>
          <a:noFill/>
          <a:ln w="63500" cap="flat" cmpd="sng">
            <a:solidFill>
              <a:srgbClr val="4BACC6">
                <a:alpha val="100000"/>
              </a:srgbClr>
            </a:solidFill>
            <a:prstDash val="solid"/>
            <a:round/>
          </a:ln>
        </p:spPr>
        <p:txBody>
          <a:bodyPr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0" name="Connector 10"/>
          <p:cNvCxnSpPr/>
          <p:nvPr/>
        </p:nvCxnSpPr>
        <p:spPr>
          <a:xfrm>
            <a:off x="6822404" y="4121410"/>
            <a:ext cx="232159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>
            <a:solidFill>
              <a:srgbClr val="2B2F36">
                <a:alpha val="100000"/>
              </a:srgbClr>
            </a:solidFill>
            <a:prstDash val="solid"/>
            <a:headEnd type="none" w="lg" len="lg"/>
            <a:tailEnd type="arrow" w="lg" len="lg"/>
          </a:ln>
        </p:spPr>
      </p:cxnSp>
      <p:sp>
        <p:nvSpPr>
          <p:cNvPr id="11" name="AutoShape 11"/>
          <p:cNvSpPr/>
          <p:nvPr/>
        </p:nvSpPr>
        <p:spPr>
          <a:xfrm>
            <a:off x="9281433" y="3846981"/>
            <a:ext cx="1498600" cy="4826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2500" b="1" i="0" u="none" strike="noStrike">
                <a:solidFill>
                  <a:srgbClr val="0028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similar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9420031" y="2391404"/>
            <a:ext cx="3554641" cy="4826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2500" b="1" i="0" u="none" strike="noStrike">
                <a:solidFill>
                  <a:srgbClr val="D8393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high addicted score !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 rot="-140296">
            <a:off x="10499541" y="4103167"/>
            <a:ext cx="2412327" cy="98503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>
            <a:solidFill>
              <a:srgbClr val="2B2F36">
                <a:alpha val="100000"/>
              </a:srgbClr>
            </a:solidFill>
            <a:prstDash val="solid"/>
            <a:headEnd type="none" w="lg" len="lg"/>
            <a:tailEnd type="arrow" w="lg" len="lg"/>
          </a:ln>
        </p:spPr>
      </p:cxnSp>
      <p:sp>
        <p:nvSpPr>
          <p:cNvPr id="14" name="AutoShape 14"/>
          <p:cNvSpPr/>
          <p:nvPr/>
        </p:nvSpPr>
        <p:spPr>
          <a:xfrm>
            <a:off x="12974672" y="3676169"/>
            <a:ext cx="4140200" cy="9525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2500" b="1" i="0" u="none" strike="noStrike">
                <a:solidFill>
                  <a:srgbClr val="0028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one category for further analysis  Simple.</a:t>
            </a:r>
            <a:endParaRPr lang="en-US" sz="1100"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2695" y="7107145"/>
            <a:ext cx="5087769" cy="3179855"/>
          </a:xfrm>
          <a:prstGeom prst="rect">
            <a:avLst/>
          </a:prstGeom>
          <a:ln>
            <a:noFill/>
            <a:prstDash val="solid"/>
          </a:ln>
        </p:spPr>
      </p:pic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758081" y="0"/>
            <a:ext cx="9118600" cy="153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0" tIns="0" rIns="0" bIns="0" rtlCol="0" anchor="t" anchorCtr="1">
            <a:spAutoFit/>
          </a:bodyPr>
          <a:lstStyle/>
          <a:p>
            <a:pPr indent="0" algn="ctr">
              <a:lnSpc>
                <a:spcPts val="10080"/>
              </a:lnSpc>
              <a:defRPr/>
            </a:pPr>
            <a:r>
              <a:rPr lang="en-US" sz="60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Hypothesis testing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28059" y="1316573"/>
            <a:ext cx="12915900" cy="26670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500" b="0" i="0" u="none" strike="noStrike">
                <a:solidFill>
                  <a:srgbClr val="333333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1.</a:t>
            </a:r>
            <a:r>
              <a:rPr lang="en-US" sz="3500" b="0" i="0" u="none" strike="noStrike">
                <a:solidFill>
                  <a:srgbClr val="333333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F-test to compare the </a:t>
            </a:r>
            <a:r>
              <a:rPr lang="en-US" sz="3500" b="0" i="0" u="none" strike="noStrike">
                <a:solidFill>
                  <a:srgbClr val="D83931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variances</a:t>
            </a:r>
            <a:r>
              <a:rPr lang="en-US" sz="3500" b="0" i="0" u="none" strike="noStrike">
                <a:solidFill>
                  <a:srgbClr val="333333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of the addicted scores between the two groups (Complicated vs. Simple).  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3500" b="0" i="0" u="none" strike="noStrike">
                <a:solidFill>
                  <a:srgbClr val="333333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H_0: The variances of the addicted scores in both groups are equal.  </a:t>
            </a:r>
            <a:endParaRPr lang="en-US" sz="3500" b="0" i="0" u="none" strike="noStrike">
              <a:solidFill>
                <a:srgbClr val="333333"/>
              </a:solidFill>
              <a:highlight>
                <a:srgbClr val="FFFFFF">
                  <a:alpha val="0"/>
                </a:srgbClr>
              </a:highlight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indent="0" algn="l">
              <a:lnSpc>
                <a:spcPct val="125000"/>
              </a:lnSpc>
            </a:pPr>
            <a:r>
              <a:rPr lang="en-US" sz="3500" b="0" i="0" u="none" strike="noStrike">
                <a:solidFill>
                  <a:srgbClr val="333333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H_1: The variances of the addicted scores in both groups are not equal.</a:t>
            </a:r>
            <a:endParaRPr lang="en-US" sz="3500" b="0" i="0" u="none" strike="noStrike">
              <a:solidFill>
                <a:srgbClr val="333333"/>
              </a:solidFill>
              <a:highlight>
                <a:srgbClr val="FFFFFF">
                  <a:alpha val="0"/>
                </a:srgbClr>
              </a:highlight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269" y="4400925"/>
            <a:ext cx="8980780" cy="5561402"/>
          </a:xfrm>
          <a:prstGeom prst="rect">
            <a:avLst/>
          </a:prstGeom>
          <a:ln>
            <a:noFill/>
            <a:prstDash val="solid"/>
          </a:ln>
        </p:spPr>
      </p:pic>
      <p:sp>
        <p:nvSpPr>
          <p:cNvPr id="5" name="AutoShape 5"/>
          <p:cNvSpPr/>
          <p:nvPr/>
        </p:nvSpPr>
        <p:spPr>
          <a:xfrm>
            <a:off x="10406525" y="4484758"/>
            <a:ext cx="7582147" cy="28575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</a:t>
            </a:r>
            <a:r>
              <a:rPr lang="en-US" sz="3000" b="1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his suggests that there is </a:t>
            </a:r>
            <a:r>
              <a:rPr lang="en-US" sz="3000" b="1" i="0" u="none" strike="noStrike">
                <a:solidFill>
                  <a:srgbClr val="D83931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no significant difference </a:t>
            </a:r>
            <a:r>
              <a:rPr lang="en-US" sz="3000" b="1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in Variance of the addicted score between students in complicated relationships and those in simple relationships.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5050106" y="8872917"/>
            <a:ext cx="2788273" cy="562546"/>
          </a:xfrm>
          <a:prstGeom prst="roundRect">
            <a:avLst>
              <a:gd name="adj" fmla="val 0"/>
            </a:avLst>
          </a:prstGeom>
          <a:noFill/>
          <a:ln w="63500" cap="flat" cmpd="sng">
            <a:solidFill>
              <a:srgbClr val="D83931">
                <a:alpha val="100000"/>
              </a:srgbClr>
            </a:solidFill>
            <a:prstDash val="solid"/>
            <a:round/>
          </a:ln>
        </p:spPr>
        <p:txBody>
          <a:bodyPr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11069711" y="8596343"/>
            <a:ext cx="5753100" cy="1115695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2900" b="0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significantly higher than signifiance level(0.05) </a:t>
            </a:r>
            <a:endParaRPr lang="en-US" sz="1100"/>
          </a:p>
        </p:txBody>
      </p:sp>
      <p:cxnSp>
        <p:nvCxnSpPr>
          <p:cNvPr id="8" name="Connector 8"/>
          <p:cNvCxnSpPr/>
          <p:nvPr/>
        </p:nvCxnSpPr>
        <p:spPr>
          <a:xfrm rot="-192720">
            <a:off x="7862837" y="9141961"/>
            <a:ext cx="2617064" cy="73376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D83931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cxnSp>
        <p:nvCxnSpPr>
          <p:cNvPr id="9" name="Connector 9"/>
          <p:cNvCxnSpPr/>
          <p:nvPr/>
        </p:nvCxnSpPr>
        <p:spPr>
          <a:xfrm rot="10800000">
            <a:off x="13586135" y="7160819"/>
            <a:ext cx="24459" cy="1247385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D83931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2971130" y="2000068"/>
            <a:ext cx="5160752" cy="562546"/>
          </a:xfrm>
          <a:prstGeom prst="roundRect">
            <a:avLst>
              <a:gd name="adj" fmla="val 36121"/>
            </a:avLst>
          </a:prstGeom>
          <a:solidFill>
            <a:srgbClr val="FAD355">
              <a:alpha val="64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-758081" y="0"/>
            <a:ext cx="9118600" cy="153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0" tIns="0" rIns="0" bIns="0" rtlCol="0" anchor="t" anchorCtr="1">
            <a:spAutoFit/>
          </a:bodyPr>
          <a:lstStyle/>
          <a:p>
            <a:pPr indent="0" algn="ctr">
              <a:lnSpc>
                <a:spcPts val="10080"/>
              </a:lnSpc>
              <a:defRPr/>
            </a:pPr>
            <a:r>
              <a:rPr lang="en-US" sz="60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Hypothesis testing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364835" y="1314555"/>
            <a:ext cx="15991368" cy="26670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500" b="0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Since the samples are relatively large ( &gt;30 ), according to Central Limit Theorm, the distribution is close to nomral distribution. 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3500" b="0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Therefore we use t-Test: Two-Sample Assuming </a:t>
            </a:r>
            <a:r>
              <a:rPr lang="en-US" sz="3500" b="0" i="0" u="none" strike="noStrike">
                <a:solidFill>
                  <a:srgbClr val="D83931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Equal Variances</a:t>
            </a:r>
            <a:r>
              <a:rPr lang="en-US" sz="3500" b="0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to compare the means of the addicted scores between the two groups (Complicated vs. Simple).</a:t>
            </a:r>
            <a:endParaRPr lang="en-US" sz="3500" b="0" i="0" u="none" strike="noStrike">
              <a:solidFill>
                <a:srgbClr val="000000"/>
              </a:solidFill>
              <a:highlight>
                <a:srgbClr val="FFFFFF">
                  <a:alpha val="0"/>
                </a:srgbClr>
              </a:highlight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8948332" y="4976111"/>
            <a:ext cx="8813800" cy="22860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This suggests that there is a</a:t>
            </a:r>
            <a:r>
              <a:rPr lang="en-US" sz="3000" b="1" i="0" u="none" strike="noStrike">
                <a:solidFill>
                  <a:srgbClr val="D83931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significant increase</a:t>
            </a:r>
            <a:r>
              <a:rPr lang="en-US" sz="3000" b="1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in the addicted score for students in complicated relationships than those in simple relationships.</a:t>
            </a:r>
            <a:endParaRPr lang="en-US" sz="110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9098" y="4230335"/>
            <a:ext cx="6679632" cy="5902583"/>
          </a:xfrm>
          <a:prstGeom prst="rect">
            <a:avLst/>
          </a:prstGeom>
          <a:ln>
            <a:noFill/>
            <a:prstDash val="solid"/>
          </a:ln>
        </p:spPr>
      </p:pic>
      <p:sp>
        <p:nvSpPr>
          <p:cNvPr id="7" name="AutoShape 7"/>
          <p:cNvSpPr/>
          <p:nvPr/>
        </p:nvSpPr>
        <p:spPr>
          <a:xfrm>
            <a:off x="3655618" y="8356060"/>
            <a:ext cx="2788273" cy="562546"/>
          </a:xfrm>
          <a:prstGeom prst="roundRect">
            <a:avLst>
              <a:gd name="adj" fmla="val 0"/>
            </a:avLst>
          </a:prstGeom>
          <a:noFill/>
          <a:ln w="63500" cap="flat" cmpd="sng">
            <a:solidFill>
              <a:srgbClr val="D83931">
                <a:alpha val="100000"/>
              </a:srgbClr>
            </a:solidFill>
            <a:prstDash val="solid"/>
            <a:round/>
          </a:ln>
        </p:spPr>
        <p:txBody>
          <a:bodyPr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8" name="Connector 8"/>
          <p:cNvCxnSpPr/>
          <p:nvPr/>
        </p:nvCxnSpPr>
        <p:spPr>
          <a:xfrm rot="-192720">
            <a:off x="6444486" y="8534147"/>
            <a:ext cx="3679705" cy="577552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D83931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id="9" name="AutoShape 9"/>
          <p:cNvSpPr/>
          <p:nvPr/>
        </p:nvSpPr>
        <p:spPr>
          <a:xfrm>
            <a:off x="10603103" y="8455707"/>
            <a:ext cx="5753100" cy="11049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2900" b="0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lower  than signifiance level(0.05) ,reject H_0!</a:t>
            </a:r>
            <a:endParaRPr lang="en-US" sz="1100"/>
          </a:p>
        </p:txBody>
      </p:sp>
      <p:cxnSp>
        <p:nvCxnSpPr>
          <p:cNvPr id="10" name="Connector 10"/>
          <p:cNvCxnSpPr/>
          <p:nvPr/>
        </p:nvCxnSpPr>
        <p:spPr>
          <a:xfrm rot="10800000">
            <a:off x="12405095" y="6982999"/>
            <a:ext cx="24459" cy="1247385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D83931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758081" y="0"/>
            <a:ext cx="9118600" cy="153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0" tIns="0" rIns="0" bIns="0" rtlCol="0" anchor="t" anchorCtr="1">
            <a:spAutoFit/>
          </a:bodyPr>
          <a:lstStyle/>
          <a:p>
            <a:pPr indent="0" algn="ctr">
              <a:lnSpc>
                <a:spcPts val="10080"/>
              </a:lnSpc>
              <a:defRPr/>
            </a:pPr>
            <a:r>
              <a:rPr lang="en-US" sz="60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Predictive Model</a:t>
            </a:r>
            <a:endParaRPr lang="en-US" sz="1100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69044" y="1265293"/>
            <a:ext cx="12369861" cy="8678677"/>
          </a:xfrm>
          <a:prstGeom prst="rect">
            <a:avLst/>
          </a:prstGeom>
          <a:ln>
            <a:noFill/>
            <a:prstDash val="solid"/>
          </a:ln>
        </p:spPr>
      </p:pic>
      <p:sp>
        <p:nvSpPr>
          <p:cNvPr id="4" name="AutoShape 4"/>
          <p:cNvSpPr/>
          <p:nvPr/>
        </p:nvSpPr>
        <p:spPr>
          <a:xfrm>
            <a:off x="12369861" y="1265293"/>
            <a:ext cx="5918200" cy="80010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marL="381000" indent="-381000" algn="l">
              <a:lnSpc>
                <a:spcPct val="125000"/>
              </a:lnSpc>
              <a:buClr>
                <a:srgbClr val="000000"/>
              </a:buClr>
              <a:buChar char="•"/>
              <a:defRPr/>
            </a:pPr>
            <a:r>
              <a:rPr lang="en-US" sz="3000" b="0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We hope to predict Addicted Score</a:t>
            </a:r>
            <a:endParaRPr lang="en-US" sz="1100"/>
          </a:p>
          <a:p>
            <a:pPr indent="0" algn="l">
              <a:lnSpc>
                <a:spcPct val="125000"/>
              </a:lnSpc>
            </a:pPr>
          </a:p>
          <a:p>
            <a:pPr marL="381000" indent="-381000" algn="l">
              <a:lnSpc>
                <a:spcPct val="125000"/>
              </a:lnSpc>
              <a:buClr>
                <a:srgbClr val="000000"/>
              </a:buClr>
              <a:buChar char="•"/>
            </a:pPr>
            <a:r>
              <a:rPr lang="en-US" sz="3000" b="0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Recall the heatmap, many variables are highly correlated to each other ( |corr| &gt; 0.7 ).</a:t>
            </a:r>
            <a:endParaRPr lang="en-US" sz="3000" b="0" i="0" u="none" strike="noStrike">
              <a:solidFill>
                <a:srgbClr val="000000"/>
              </a:solidFill>
              <a:highlight>
                <a:srgbClr val="FFFFFF">
                  <a:alpha val="0"/>
                </a:srgbClr>
              </a:highlight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l">
              <a:lnSpc>
                <a:spcPct val="125000"/>
              </a:lnSpc>
            </a:pPr>
          </a:p>
          <a:p>
            <a:pPr marL="381000" indent="-381000" algn="l">
              <a:lnSpc>
                <a:spcPct val="125000"/>
              </a:lnSpc>
              <a:buClr>
                <a:srgbClr val="000000"/>
              </a:buClr>
              <a:buChar char="•"/>
            </a:pPr>
            <a:r>
              <a:rPr lang="en-US" sz="3000" b="0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To reduce multicollinearity, we choose </a:t>
            </a:r>
            <a:r>
              <a:rPr lang="en-US" sz="3000" b="0" i="0" u="none" strike="noStrike">
                <a:solidFill>
                  <a:srgbClr val="D83931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'Conflicts Over Social Media'</a:t>
            </a:r>
            <a:r>
              <a:rPr lang="en-US" sz="3000" b="0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and </a:t>
            </a:r>
            <a:r>
              <a:rPr lang="en-US" sz="3000" b="0" i="0" u="none" strike="noStrike">
                <a:solidFill>
                  <a:srgbClr val="D83931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'Sleep Hours Per Night'</a:t>
            </a:r>
            <a:r>
              <a:rPr lang="en-US" sz="3000" b="0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as X variables, as they are highly correlated to </a:t>
            </a:r>
            <a:r>
              <a:rPr lang="en-US" sz="3000" b="0" i="0" u="none" strike="noStrike">
                <a:solidFill>
                  <a:srgbClr val="D83931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'Addicted Score'</a:t>
            </a:r>
            <a:r>
              <a:rPr lang="en-US" sz="3000" b="0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but less correlated to each other.</a:t>
            </a:r>
            <a:endParaRPr lang="en-US" sz="3000" b="0" i="0" u="none" strike="noStrike">
              <a:solidFill>
                <a:srgbClr val="000000"/>
              </a:solidFill>
              <a:highlight>
                <a:srgbClr val="FFFFFF">
                  <a:alpha val="0"/>
                </a:srgbClr>
              </a:highlight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38200" y="1574560"/>
            <a:ext cx="16667607" cy="584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indent="0" algn="l">
              <a:lnSpc>
                <a:spcPct val="100000"/>
              </a:lnSpc>
              <a:defRPr/>
            </a:pPr>
            <a:r>
              <a:rPr lang="en-US" sz="32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AddictedScore =</a:t>
            </a:r>
            <a:r>
              <a:rPr lang="en-US" sz="3200" b="0" i="0" u="none" strike="noStrike">
                <a:solidFill>
                  <a:srgbClr val="D8393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1.272</a:t>
            </a:r>
            <a:r>
              <a:rPr lang="en-US" sz="32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(ConflictsOverSocialMedia) -</a:t>
            </a:r>
            <a:r>
              <a:rPr lang="en-US" sz="3200" b="0" i="0" u="none" strike="noStrike">
                <a:solidFill>
                  <a:srgbClr val="D8393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0.345</a:t>
            </a:r>
            <a:r>
              <a:rPr lang="en-US" sz="32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* (SleepHoursPerNight) + </a:t>
            </a:r>
            <a:r>
              <a:rPr lang="en-US" sz="3200" b="0" i="0" u="none" strike="noStrike">
                <a:solidFill>
                  <a:srgbClr val="D8393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5.182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-758081" y="0"/>
            <a:ext cx="9118600" cy="153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0" tIns="0" rIns="0" bIns="0" rtlCol="0" anchor="t" anchorCtr="1">
            <a:spAutoFit/>
          </a:bodyPr>
          <a:lstStyle/>
          <a:p>
            <a:pPr indent="0" algn="ctr">
              <a:lnSpc>
                <a:spcPts val="10080"/>
              </a:lnSpc>
              <a:defRPr/>
            </a:pPr>
            <a:r>
              <a:rPr lang="en-US" sz="60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Predictive Model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2533584"/>
            <a:ext cx="16179800" cy="6845300"/>
          </a:xfrm>
          <a:prstGeom prst="rect">
            <a:avLst/>
          </a:prstGeom>
          <a:ln>
            <a:noFill/>
            <a:prstDash val="solid"/>
          </a:ln>
        </p:spPr>
      </p:pic>
      <p:sp>
        <p:nvSpPr>
          <p:cNvPr id="5" name="AutoShape 5"/>
          <p:cNvSpPr/>
          <p:nvPr/>
        </p:nvSpPr>
        <p:spPr>
          <a:xfrm>
            <a:off x="3191257" y="8334829"/>
            <a:ext cx="1712098" cy="1076176"/>
          </a:xfrm>
          <a:prstGeom prst="roundRect">
            <a:avLst>
              <a:gd name="adj" fmla="val 0"/>
            </a:avLst>
          </a:prstGeom>
          <a:noFill/>
          <a:ln w="76200" cap="flat" cmpd="sng">
            <a:solidFill>
              <a:srgbClr val="D83931">
                <a:alpha val="100000"/>
              </a:srgbClr>
            </a:solidFill>
            <a:prstDash val="solid"/>
            <a:round/>
          </a:ln>
        </p:spPr>
        <p:txBody>
          <a:bodyPr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408" y="179954"/>
            <a:ext cx="2345839" cy="1394606"/>
          </a:xfrm>
          <a:prstGeom prst="rect">
            <a:avLst/>
          </a:prstGeom>
          <a:ln>
            <a:noFill/>
            <a:prstDash val="solid"/>
          </a:ln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32803" y="80050"/>
            <a:ext cx="1819326" cy="1456650"/>
          </a:xfrm>
          <a:prstGeom prst="rect">
            <a:avLst/>
          </a:prstGeom>
          <a:ln>
            <a:noFill/>
            <a:prstDash val="solid"/>
          </a:ln>
        </p:spPr>
      </p:pic>
    </p:spTree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758081" y="0"/>
            <a:ext cx="9118600" cy="153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0" tIns="0" rIns="0" bIns="0" rtlCol="0" anchor="t" anchorCtr="1">
            <a:spAutoFit/>
          </a:bodyPr>
          <a:lstStyle/>
          <a:p>
            <a:pPr indent="0" algn="ctr">
              <a:lnSpc>
                <a:spcPts val="10080"/>
              </a:lnSpc>
              <a:defRPr/>
            </a:pPr>
            <a:r>
              <a:rPr lang="en-US" sz="60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Predictive Model</a:t>
            </a:r>
            <a:endParaRPr lang="en-US" sz="1100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0058" y="2443590"/>
            <a:ext cx="7192416" cy="3275207"/>
          </a:xfrm>
          <a:prstGeom prst="rect">
            <a:avLst/>
          </a:prstGeom>
          <a:ln>
            <a:noFill/>
            <a:prstDash val="solid"/>
          </a:ln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0058" y="6356751"/>
            <a:ext cx="7117654" cy="3243865"/>
          </a:xfrm>
          <a:prstGeom prst="rect">
            <a:avLst/>
          </a:prstGeom>
          <a:ln>
            <a:noFill/>
            <a:prstDash val="solid"/>
          </a:ln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73" y="2443590"/>
            <a:ext cx="7150455" cy="3268779"/>
          </a:xfrm>
          <a:prstGeom prst="rect">
            <a:avLst/>
          </a:prstGeom>
          <a:ln>
            <a:noFill/>
            <a:prstDash val="solid"/>
          </a:ln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73" y="6356751"/>
            <a:ext cx="7150455" cy="3243865"/>
          </a:xfrm>
          <a:prstGeom prst="rect">
            <a:avLst/>
          </a:prstGeom>
          <a:ln>
            <a:noFill/>
            <a:prstDash val="solid"/>
          </a:ln>
        </p:spPr>
      </p:pic>
      <p:sp>
        <p:nvSpPr>
          <p:cNvPr id="7" name="AutoShape 7"/>
          <p:cNvSpPr/>
          <p:nvPr/>
        </p:nvSpPr>
        <p:spPr>
          <a:xfrm>
            <a:off x="15017405" y="3599880"/>
            <a:ext cx="3276600" cy="36576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marL="406400" indent="-406400" algn="l">
              <a:lnSpc>
                <a:spcPct val="100000"/>
              </a:lnSpc>
              <a:buClr>
                <a:srgbClr val="000000"/>
              </a:buClr>
              <a:buChar char="•"/>
              <a:defRPr/>
            </a:pPr>
            <a:r>
              <a:rPr lang="en-US" sz="3200" b="0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No outliers</a:t>
            </a:r>
            <a:endParaRPr lang="en-US" sz="1100"/>
          </a:p>
          <a:p>
            <a:pPr indent="0" algn="l">
              <a:lnSpc>
                <a:spcPct val="100000"/>
              </a:lnSpc>
            </a:pPr>
          </a:p>
          <a:p>
            <a:pPr marL="406400" indent="-4064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No high leverage point</a:t>
            </a:r>
            <a:endParaRPr lang="en-US" sz="3200" b="0" i="0" u="none" strike="noStrike">
              <a:solidFill>
                <a:srgbClr val="000000"/>
              </a:solidFill>
              <a:highlight>
                <a:srgbClr val="FFFFFF">
                  <a:alpha val="0"/>
                </a:srgbClr>
              </a:highlight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l">
              <a:lnSpc>
                <a:spcPct val="100000"/>
              </a:lnSpc>
            </a:pPr>
          </a:p>
          <a:p>
            <a:pPr marL="406400" indent="-406400" algn="l">
              <a:lnSpc>
                <a:spcPct val="100000"/>
              </a:lnSpc>
              <a:buClr>
                <a:srgbClr val="000000"/>
              </a:buClr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Residuals within +/- 3 std</a:t>
            </a:r>
            <a:endParaRPr lang="en-US" sz="3200" b="0" i="0" u="none" strike="noStrike">
              <a:solidFill>
                <a:srgbClr val="000000"/>
              </a:solidFill>
              <a:highlight>
                <a:srgbClr val="FFFFFF">
                  <a:alpha val="0"/>
                </a:srgbClr>
              </a:highlight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838200" y="1574560"/>
            <a:ext cx="16667607" cy="584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indent="0" algn="l">
              <a:lnSpc>
                <a:spcPct val="100000"/>
              </a:lnSpc>
              <a:defRPr/>
            </a:pPr>
            <a:r>
              <a:rPr lang="en-US" sz="32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AddictedScore =</a:t>
            </a:r>
            <a:r>
              <a:rPr lang="en-US" sz="3200" b="0" i="0" u="none" strike="noStrike">
                <a:solidFill>
                  <a:srgbClr val="D8393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1.272</a:t>
            </a:r>
            <a:r>
              <a:rPr lang="en-US" sz="32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(ConflictsOverSocialMedia) -</a:t>
            </a:r>
            <a:r>
              <a:rPr lang="en-US" sz="3200" b="0" i="0" u="none" strike="noStrike">
                <a:solidFill>
                  <a:srgbClr val="D8393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0.345</a:t>
            </a:r>
            <a:r>
              <a:rPr lang="en-US" sz="32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* (SleepHoursPerNight) + </a:t>
            </a:r>
            <a:r>
              <a:rPr lang="en-US" sz="3200" b="0" i="0" u="none" strike="noStrike">
                <a:solidFill>
                  <a:srgbClr val="D8393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5.182</a:t>
            </a:r>
            <a:endParaRPr lang="en-US" sz="1100"/>
          </a:p>
        </p:txBody>
      </p:sp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ln w="25400">
            <a:noFill/>
            <a:prstDash val="solid"/>
          </a:ln>
        </p:spPr>
      </p:pic>
      <p:sp>
        <p:nvSpPr>
          <p:cNvPr id="3" name="AutoShape 3"/>
          <p:cNvSpPr/>
          <p:nvPr/>
        </p:nvSpPr>
        <p:spPr>
          <a:xfrm>
            <a:off x="533400" y="342900"/>
            <a:ext cx="5181600" cy="153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0" tIns="0" rIns="0" bIns="0" rtlCol="0" anchor="t" anchorCtr="1">
            <a:spAutoFit/>
          </a:bodyPr>
          <a:lstStyle/>
          <a:p>
            <a:pPr indent="0" algn="ctr">
              <a:lnSpc>
                <a:spcPts val="10080"/>
              </a:lnSpc>
              <a:defRPr/>
            </a:pPr>
            <a:r>
              <a:rPr lang="en-US" sz="60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Conclusion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533400" y="1524506"/>
            <a:ext cx="17068800" cy="788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0" rIns="0" bIns="0" rtlCol="0" anchor="t">
            <a:spAutoFit/>
          </a:bodyPr>
          <a:lstStyle/>
          <a:p>
            <a:pPr marL="431800" indent="-431800" algn="l">
              <a:lnSpc>
                <a:spcPct val="200000"/>
              </a:lnSpc>
              <a:buClr>
                <a:srgbClr val="1C334E"/>
              </a:buClr>
              <a:buChar char="•"/>
              <a:defRPr/>
            </a:pPr>
            <a:r>
              <a:rPr lang="en-US" sz="3400" b="0" i="0" u="none" strike="noStrike">
                <a:solidFill>
                  <a:srgbClr val="1C334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Instagram is the most popular social media. USA students have the longest usage hours.</a:t>
            </a:r>
            <a:endParaRPr lang="en-US" sz="1100"/>
          </a:p>
          <a:p>
            <a:pPr marL="431800" indent="-431800" algn="l">
              <a:lnSpc>
                <a:spcPct val="200000"/>
              </a:lnSpc>
              <a:buClr>
                <a:srgbClr val="1C334E"/>
              </a:buClr>
              <a:buChar char="•"/>
            </a:pPr>
            <a:r>
              <a:rPr lang="en-US" sz="3400" b="0" i="0" u="none" strike="noStrike">
                <a:solidFill>
                  <a:srgbClr val="1C334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Addiction to social media is negatively correlated to Sleep Hours and Mental Health.</a:t>
            </a:r>
            <a:endParaRPr lang="en-US" sz="3400" b="0" i="0" u="none" strike="noStrike">
              <a:solidFill>
                <a:srgbClr val="1C334E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431800" indent="-431800" algn="l">
              <a:lnSpc>
                <a:spcPct val="200000"/>
              </a:lnSpc>
              <a:buClr>
                <a:srgbClr val="1C334E"/>
              </a:buClr>
              <a:buChar char="•"/>
            </a:pPr>
            <a:r>
              <a:rPr lang="en-US" sz="3400" b="0" i="0" u="none" strike="noStrike">
                <a:solidFill>
                  <a:srgbClr val="1C334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Long usage hours tend to lower academic performance. Addiction to </a:t>
            </a:r>
            <a:r>
              <a:rPr lang="en-US" sz="3400" b="0" i="0" u="none" strike="noStrike">
                <a:solidFill>
                  <a:srgbClr val="1C334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social media is in line with poor interpersonal relationships.</a:t>
            </a:r>
            <a:endParaRPr lang="en-US" sz="3400" b="0" i="0" u="none" strike="noStrike">
              <a:solidFill>
                <a:srgbClr val="1C334E"/>
              </a:solidFill>
              <a:highlight>
                <a:srgbClr val="FFFFFF">
                  <a:alpha val="0"/>
                </a:srgbClr>
              </a:highlight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431800" indent="-431800" algn="l">
              <a:lnSpc>
                <a:spcPct val="200000"/>
              </a:lnSpc>
              <a:buClr>
                <a:srgbClr val="1C334E"/>
              </a:buClr>
              <a:buChar char="•"/>
            </a:pPr>
            <a:r>
              <a:rPr lang="en-US" sz="3400" b="0" i="0" u="none" strike="noStrike">
                <a:solidFill>
                  <a:srgbClr val="1C334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Addicted Score can be predicted with Conflicts and Sleep Hours.</a:t>
            </a:r>
            <a:endParaRPr lang="en-US" sz="3400" b="0" i="0" u="none" strike="noStrike">
              <a:solidFill>
                <a:srgbClr val="1C334E"/>
              </a:solidFill>
              <a:highlight>
                <a:srgbClr val="FFFFFF">
                  <a:alpha val="0"/>
                </a:srgbClr>
              </a:highlight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l">
              <a:lnSpc>
                <a:spcPct val="150000"/>
              </a:lnSpc>
            </a:pPr>
          </a:p>
          <a:p>
            <a:pPr indent="0" algn="l">
              <a:lnSpc>
                <a:spcPct val="150000"/>
              </a:lnSpc>
            </a:pPr>
            <a:r>
              <a:rPr lang="en-US" sz="3400" b="0" i="0" u="none" strike="noStrike">
                <a:solidFill>
                  <a:srgbClr val="1C334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endParaRPr lang="en-US" sz="3400" b="0" i="0" u="none" strike="noStrike">
              <a:solidFill>
                <a:srgbClr val="1C334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6927" y="0"/>
            <a:ext cx="18288000" cy="10287000"/>
          </a:xfrm>
          <a:prstGeom prst="rect">
            <a:avLst/>
          </a:prstGeom>
          <a:ln w="25400">
            <a:noFill/>
            <a:prstDash val="solid"/>
          </a:ln>
        </p:spPr>
      </p:pic>
      <p:sp>
        <p:nvSpPr>
          <p:cNvPr id="3" name="AutoShape 3"/>
          <p:cNvSpPr/>
          <p:nvPr/>
        </p:nvSpPr>
        <p:spPr>
          <a:xfrm>
            <a:off x="533400" y="342900"/>
            <a:ext cx="5181600" cy="153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0" tIns="0" rIns="0" bIns="0" rtlCol="0" anchor="t" anchorCtr="1">
            <a:spAutoFit/>
          </a:bodyPr>
          <a:lstStyle/>
          <a:p>
            <a:pPr indent="0" algn="ctr">
              <a:lnSpc>
                <a:spcPts val="10080"/>
              </a:lnSpc>
              <a:defRPr/>
            </a:pPr>
            <a:r>
              <a:rPr lang="en-US" sz="60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Conclusion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533400" y="1524506"/>
            <a:ext cx="17068800" cy="5283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0" rIns="0" bIns="0" rtlCol="0" anchor="t">
            <a:spAutoFit/>
          </a:bodyPr>
          <a:lstStyle/>
          <a:p>
            <a:pPr indent="0" algn="l">
              <a:lnSpc>
                <a:spcPct val="200000"/>
              </a:lnSpc>
              <a:defRPr/>
            </a:pPr>
            <a:r>
              <a:rPr lang="en-US" sz="4400" b="0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Suggestions:</a:t>
            </a:r>
            <a:endParaRPr lang="en-US" sz="1100"/>
          </a:p>
          <a:p>
            <a:pPr marL="457200" lvl="1" indent="0" algn="l">
              <a:lnSpc>
                <a:spcPct val="200000"/>
              </a:lnSpc>
            </a:pPr>
            <a:r>
              <a:rPr lang="en-US" sz="4400" b="0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If you have problems with sleep/ stress/ grades/ relationships:</a:t>
            </a:r>
            <a:endParaRPr lang="en-US" sz="4400" b="0" i="0" u="none" strike="noStrike">
              <a:solidFill>
                <a:srgbClr val="00285E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457200" lvl="1" indent="0" algn="l">
              <a:lnSpc>
                <a:spcPct val="200000"/>
              </a:lnSpc>
            </a:pPr>
            <a:r>
              <a:rPr lang="en-US" sz="4400" b="0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Try control your time spent on Social Media.</a:t>
            </a:r>
            <a:endParaRPr lang="en-US" sz="4400" b="0" i="0" u="none" strike="noStrike">
              <a:solidFill>
                <a:srgbClr val="00285E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indent="0" algn="l">
              <a:lnSpc>
                <a:spcPct val="150000"/>
              </a:lnSpc>
            </a:pPr>
          </a:p>
          <a:p>
            <a:pPr indent="0" algn="l">
              <a:lnSpc>
                <a:spcPct val="150000"/>
              </a:lnSpc>
            </a:pPr>
            <a:r>
              <a:rPr lang="en-US" sz="18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endParaRPr lang="en-US" sz="18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ln w="25400">
            <a:noFill/>
            <a:prstDash val="solid"/>
          </a:ln>
        </p:spPr>
      </p:pic>
      <p:sp>
        <p:nvSpPr>
          <p:cNvPr id="3" name="AutoShape 3"/>
          <p:cNvSpPr/>
          <p:nvPr/>
        </p:nvSpPr>
        <p:spPr>
          <a:xfrm>
            <a:off x="533400" y="342900"/>
            <a:ext cx="5181600" cy="16002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0" tIns="0" rIns="0" bIns="0" rtlCol="0" anchor="t" anchorCtr="1">
            <a:spAutoFit/>
          </a:bodyPr>
          <a:lstStyle/>
          <a:p>
            <a:pPr indent="0" algn="ctr">
              <a:lnSpc>
                <a:spcPts val="10080"/>
              </a:lnSpc>
              <a:defRPr/>
            </a:pPr>
            <a:r>
              <a:rPr lang="en-US" sz="7200" b="1" i="0" u="none" strike="noStrike">
                <a:solidFill>
                  <a:srgbClr val="00285E"/>
                </a:solidFill>
                <a:highlight>
                  <a:srgbClr val="FFFFFF">
                    <a:alpha val="0"/>
                  </a:srgbClr>
                </a:highligh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References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352" y="0"/>
            <a:ext cx="4041648" cy="1188720"/>
          </a:xfrm>
          <a:prstGeom prst="rect">
            <a:avLst/>
          </a:prstGeom>
          <a:ln w="25400">
            <a:noFill/>
            <a:prstDash val="solid"/>
          </a:ln>
        </p:spPr>
      </p:pic>
      <p:sp>
        <p:nvSpPr>
          <p:cNvPr id="5" name="AutoShape 5"/>
          <p:cNvSpPr/>
          <p:nvPr/>
        </p:nvSpPr>
        <p:spPr>
          <a:xfrm>
            <a:off x="533400" y="1943100"/>
            <a:ext cx="10457880" cy="13716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https://www.kaggle.com/datasets/adilshamim8/social-media-addiction-vs-relationships</a:t>
            </a:r>
            <a:endParaRPr lang="en-US" sz="1100"/>
          </a:p>
        </p:txBody>
      </p:sp>
    </p:spTree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18288000" cy="10287000"/>
          </a:xfrm>
          <a:prstGeom prst="roundRect">
            <a:avLst>
              <a:gd name="adj" fmla="val 0"/>
            </a:avLst>
          </a:prstGeom>
          <a:ln w="25400">
            <a:noFill/>
            <a:prstDash val="solid"/>
          </a:ln>
          <a:effectLst>
            <a:reflection blurRad="6350" endA="300" endPos="30000" dist="101600" dir="5400000" sy="-100000" algn="bl" rotWithShape="0"/>
          </a:effectLst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352" y="0"/>
            <a:ext cx="4041648" cy="1188720"/>
          </a:xfrm>
          <a:prstGeom prst="rect">
            <a:avLst/>
          </a:prstGeom>
          <a:ln w="25400">
            <a:noFill/>
            <a:prstDash val="solid"/>
          </a:ln>
        </p:spPr>
      </p:pic>
      <p:sp>
        <p:nvSpPr>
          <p:cNvPr id="4" name="AutoShape 4"/>
          <p:cNvSpPr/>
          <p:nvPr/>
        </p:nvSpPr>
        <p:spPr>
          <a:xfrm>
            <a:off x="2171700" y="4103502"/>
            <a:ext cx="14557940" cy="414127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91440" tIns="45720" rIns="91440" bIns="45720" rtlCol="0" anchor="t"/>
          <a:lstStyle/>
          <a:p>
            <a:pPr indent="0" algn="ctr">
              <a:lnSpc>
                <a:spcPts val="10080"/>
              </a:lnSpc>
              <a:defRPr/>
            </a:pPr>
            <a:r>
              <a:rPr lang="en-US" sz="8000" b="1" i="0" u="none" strike="noStrike">
                <a:solidFill>
                  <a:srgbClr val="00285E"/>
                </a:solidFill>
                <a:effectLst>
                  <a:outerShdw blurRad="12700" dist="38100" dir="2700000" algn="tl" rotWithShape="0">
                    <a:srgbClr val="93CDDD">
                      <a:alpha val="100000"/>
                    </a:srgbClr>
                  </a:outerShdw>
                </a:effectLs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Keep Your Real-life Connections Strong</a:t>
            </a:r>
            <a:r>
              <a:rPr lang="en-US" sz="8000" b="1" i="0" u="none" strike="noStrike">
                <a:solidFill>
                  <a:srgbClr val="00285E"/>
                </a:solidFill>
                <a:effectLst>
                  <a:outerShdw blurRad="12700" dist="38100" dir="2700000" algn="tl" rotWithShape="0">
                    <a:srgbClr val="93CDDD">
                      <a:alpha val="100000"/>
                    </a:srgbClr>
                  </a:outerShdw>
                </a:effectLs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！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0" y="1965829"/>
            <a:ext cx="18288000" cy="1524000"/>
          </a:xfrm>
          <a:prstGeom prst="rect">
            <a:avLst/>
          </a:prstGeom>
          <a:noFill/>
          <a:ln w="19050">
            <a:noFill/>
            <a:prstDash val="solid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indent="0" algn="ctr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3370FF">
                    <a:alpha val="89804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For Your Sleep</a:t>
            </a:r>
            <a:r>
              <a:rPr lang="en-US" sz="4000" b="1" i="0" u="none" strike="noStrike">
                <a:solidFill>
                  <a:srgbClr val="3370FF">
                    <a:alpha val="89804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             </a:t>
            </a:r>
            <a:r>
              <a:rPr lang="en-US" sz="4000" b="1" i="0" u="none" strike="noStrike">
                <a:solidFill>
                  <a:srgbClr val="3370FF">
                    <a:alpha val="89804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For Your Health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4000" b="1" i="0" u="none" strike="noStrike">
                <a:solidFill>
                  <a:srgbClr val="3370FF">
                    <a:alpha val="89804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For Your Grade</a:t>
            </a:r>
            <a:r>
              <a:rPr lang="en-US" sz="4000" b="1" i="0" u="none" strike="noStrike">
                <a:solidFill>
                  <a:srgbClr val="3370FF">
                    <a:alpha val="89804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             </a:t>
            </a:r>
            <a:r>
              <a:rPr lang="en-US" sz="4000" b="1" i="0" u="none" strike="noStrike">
                <a:solidFill>
                  <a:srgbClr val="3370FF">
                    <a:alpha val="89804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For Your Girlfriend/Boyfriend</a:t>
            </a:r>
            <a:endParaRPr lang="en-US" sz="4000" b="1" i="0" u="none" strike="noStrike">
              <a:solidFill>
                <a:srgbClr val="3370FF">
                  <a:alpha val="89804"/>
                </a:srgbClr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5194300" y="7901880"/>
            <a:ext cx="7899400" cy="685800"/>
          </a:xfrm>
          <a:prstGeom prst="rect">
            <a:avLst/>
          </a:prstGeom>
          <a:noFill/>
          <a:ln w="19050">
            <a:noFill/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285E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Thanks for listening!</a:t>
            </a:r>
            <a:endParaRPr lang="en-US" sz="110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0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5361</Words>
  <Application>WPS 演示</Application>
  <PresentationFormat/>
  <Paragraphs>215</Paragraphs>
  <Slides>27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27</vt:i4>
      </vt:variant>
    </vt:vector>
  </HeadingPairs>
  <TitlesOfParts>
    <vt:vector size="38" baseType="lpstr">
      <vt:lpstr>Arial</vt:lpstr>
      <vt:lpstr>宋体</vt:lpstr>
      <vt:lpstr>Wingdings</vt:lpstr>
      <vt:lpstr>Arial</vt:lpstr>
      <vt:lpstr>Calibri</vt:lpstr>
      <vt:lpstr>Noto Sans SC</vt:lpstr>
      <vt:lpstr>等线</vt:lpstr>
      <vt:lpstr>微软雅黑</vt:lpstr>
      <vt:lpstr>Arial Unicode MS</vt:lpstr>
      <vt:lpstr>Office 主题​​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谢卓阳</cp:lastModifiedBy>
  <cp:revision>2</cp:revision>
  <dcterms:created xsi:type="dcterms:W3CDTF">2025-07-23T14:24:00Z</dcterms:created>
  <dcterms:modified xsi:type="dcterms:W3CDTF">2025-07-31T04:58:45Z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620F8F2C2C81416DA0A00D01A87BE056_12</vt:lpwstr>
  </property>
  <property fmtid="{D5CDD505-2E9C-101B-9397-08002B2CF9AE}" pid="3" name="KSOProductBuildVer">
    <vt:lpwstr>2052-12.1.0.20305</vt:lpwstr>
  </property>
</Properties>
</file>