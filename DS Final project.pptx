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3"/>
  </p:notesMasterIdLst>
  <p:sldIdLst>
    <p:sldId id="256" r:id="rId2"/>
    <p:sldId id="273" r:id="rId3"/>
    <p:sldId id="275" r:id="rId4"/>
    <p:sldId id="276" r:id="rId5"/>
    <p:sldId id="285" r:id="rId6"/>
    <p:sldId id="257" r:id="rId7"/>
    <p:sldId id="291" r:id="rId8"/>
    <p:sldId id="281" r:id="rId9"/>
    <p:sldId id="282" r:id="rId10"/>
    <p:sldId id="280" r:id="rId11"/>
    <p:sldId id="288" r:id="rId12"/>
    <p:sldId id="289" r:id="rId13"/>
    <p:sldId id="290" r:id="rId14"/>
    <p:sldId id="283" r:id="rId15"/>
    <p:sldId id="295" r:id="rId16"/>
    <p:sldId id="297" r:id="rId17"/>
    <p:sldId id="298" r:id="rId18"/>
    <p:sldId id="287" r:id="rId19"/>
    <p:sldId id="279" r:id="rId20"/>
    <p:sldId id="284" r:id="rId21"/>
    <p:sldId id="274" r:id="rId22"/>
  </p:sldIdLst>
  <p:sldSz cx="18288000" cy="10287000"/>
  <p:notesSz cx="6858000" cy="9144000"/>
  <p:embeddedFontLst>
    <p:embeddedFont>
      <p:font typeface="Arial Bold" panose="020B0704020202020204" pitchFamily="34" charset="0"/>
      <p:regular r:id="rId24"/>
      <p:bold r:id="rId25"/>
    </p:embeddedFont>
    <p:embeddedFont>
      <p:font typeface="Cambria Math" panose="02040503050406030204" pitchFamily="18" charset="0"/>
      <p:regular r:id="rId26"/>
    </p:embeddedFont>
    <p:embeddedFont>
      <p:font typeface="等线" panose="02010600030101010101" pitchFamily="2" charset="-122"/>
      <p:regular r:id="rId27"/>
      <p:bold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拙孝 张" initials="拙张" lastIdx="1" clrIdx="0">
    <p:extLst>
      <p:ext uri="{19B8F6BF-5375-455C-9EA6-DF929625EA0E}">
        <p15:presenceInfo xmlns:p15="http://schemas.microsoft.com/office/powerpoint/2012/main" userId="9f1850fcaefc8f9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658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17T08:50:52.6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A2FA6D-B683-4DDF-81A3-AC0093748FD9}" type="datetimeFigureOut">
              <a:rPr lang="zh-CN" altLang="en-US" smtClean="0"/>
              <a:t>2024-04-24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B735A8-9D99-454D-B9AD-D902D8339B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3851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B735A8-9D99-454D-B9AD-D902D8339B9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5285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B735A8-9D99-454D-B9AD-D902D8339B9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90150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B735A8-9D99-454D-B9AD-D902D8339B9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33866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B735A8-9D99-454D-B9AD-D902D8339B96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42565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customXml" Target="../ink/ink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4.webp"/><Relationship Id="rId7" Type="http://schemas.openxmlformats.org/officeDocument/2006/relationships/image" Target="../media/image2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3.jpe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uom190346a/sleep-health-and-lifestyle-dataset/data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4636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246352" y="0"/>
            <a:ext cx="4041648" cy="1188720"/>
          </a:xfrm>
          <a:custGeom>
            <a:avLst/>
            <a:gdLst/>
            <a:ahLst/>
            <a:cxnLst/>
            <a:rect l="l" t="t" r="r" b="b"/>
            <a:pathLst>
              <a:path w="4041648" h="1188720">
                <a:moveTo>
                  <a:pt x="0" y="0"/>
                </a:moveTo>
                <a:lnTo>
                  <a:pt x="4041648" y="0"/>
                </a:lnTo>
                <a:lnTo>
                  <a:pt x="4041648" y="1188720"/>
                </a:lnTo>
                <a:lnTo>
                  <a:pt x="0" y="1188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206412" y="1018799"/>
            <a:ext cx="9875174" cy="22186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4806" dirty="0">
                <a:solidFill>
                  <a:srgbClr val="00285E"/>
                </a:solidFill>
                <a:latin typeface="Arial"/>
              </a:rPr>
              <a:t>STAT1000J</a:t>
            </a:r>
          </a:p>
          <a:p>
            <a:pPr algn="ctr"/>
            <a:r>
              <a:rPr lang="en-US" sz="4806" dirty="0">
                <a:solidFill>
                  <a:srgbClr val="00285E"/>
                </a:solidFill>
                <a:latin typeface="Arial"/>
              </a:rPr>
              <a:t>Data Science for Future Engineers</a:t>
            </a:r>
          </a:p>
          <a:p>
            <a:pPr algn="ctr"/>
            <a:r>
              <a:rPr lang="en-US" sz="4806" dirty="0">
                <a:solidFill>
                  <a:srgbClr val="00285E"/>
                </a:solidFill>
                <a:latin typeface="Arial"/>
              </a:rPr>
              <a:t>SP2024 Spring 2024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31512" y="3771900"/>
            <a:ext cx="11624973" cy="2476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 dirty="0">
                <a:solidFill>
                  <a:srgbClr val="00285E"/>
                </a:solidFill>
                <a:latin typeface="Arial Bold"/>
              </a:rPr>
              <a:t>Unraveling the Factors Related to Sleep Duration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72000" y="7009383"/>
            <a:ext cx="11375085" cy="23964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813"/>
              </a:lnSpc>
            </a:pPr>
            <a:r>
              <a:rPr lang="en-US" sz="2800" spc="2" dirty="0">
                <a:solidFill>
                  <a:srgbClr val="000000"/>
                </a:solidFill>
                <a:latin typeface="Arial"/>
              </a:rPr>
              <a:t>Group 4</a:t>
            </a:r>
          </a:p>
          <a:p>
            <a:pPr>
              <a:lnSpc>
                <a:spcPts val="3813"/>
              </a:lnSpc>
            </a:pPr>
            <a:r>
              <a:rPr lang="en-US" sz="2800" spc="2" dirty="0">
                <a:solidFill>
                  <a:srgbClr val="000000"/>
                </a:solidFill>
                <a:latin typeface="Arial"/>
              </a:rPr>
              <a:t>Zhuoxiao Zhang: 		Data Exploration, Visualizations</a:t>
            </a:r>
          </a:p>
          <a:p>
            <a:pPr>
              <a:lnSpc>
                <a:spcPts val="3813"/>
              </a:lnSpc>
            </a:pPr>
            <a:r>
              <a:rPr lang="en-US" sz="2800" spc="2" dirty="0">
                <a:solidFill>
                  <a:srgbClr val="000000"/>
                </a:solidFill>
                <a:latin typeface="Arial"/>
              </a:rPr>
              <a:t>Wenjun Cheng: 			Topic selection</a:t>
            </a:r>
            <a:r>
              <a:rPr lang="en-US" altLang="zh-CN" sz="2800" spc="2" dirty="0">
                <a:solidFill>
                  <a:srgbClr val="000000"/>
                </a:solidFill>
                <a:latin typeface="Arial"/>
              </a:rPr>
              <a:t>, P</a:t>
            </a:r>
            <a:r>
              <a:rPr lang="en-US" sz="2800" spc="2" dirty="0">
                <a:solidFill>
                  <a:srgbClr val="000000"/>
                </a:solidFill>
                <a:latin typeface="Arial"/>
              </a:rPr>
              <a:t>redictive Model</a:t>
            </a:r>
          </a:p>
          <a:p>
            <a:pPr>
              <a:lnSpc>
                <a:spcPts val="3813"/>
              </a:lnSpc>
            </a:pPr>
            <a:r>
              <a:rPr lang="en-US" sz="2800" spc="2" dirty="0" err="1">
                <a:solidFill>
                  <a:srgbClr val="000000"/>
                </a:solidFill>
                <a:latin typeface="Arial"/>
              </a:rPr>
              <a:t>Junyu</a:t>
            </a:r>
            <a:r>
              <a:rPr lang="en-US" sz="2800" spc="2" dirty="0">
                <a:solidFill>
                  <a:srgbClr val="000000"/>
                </a:solidFill>
                <a:latin typeface="Arial"/>
              </a:rPr>
              <a:t> Fan: 			H</a:t>
            </a:r>
            <a:r>
              <a:rPr lang="en-US" altLang="zh-CN" sz="2800" spc="2" dirty="0">
                <a:solidFill>
                  <a:srgbClr val="000000"/>
                </a:solidFill>
                <a:latin typeface="Arial"/>
              </a:rPr>
              <a:t>ypothesis Testing,</a:t>
            </a:r>
            <a:r>
              <a:rPr lang="en-US" sz="2800" spc="2" dirty="0">
                <a:solidFill>
                  <a:srgbClr val="000000"/>
                </a:solidFill>
                <a:latin typeface="Arial"/>
              </a:rPr>
              <a:t> PPT making </a:t>
            </a:r>
          </a:p>
          <a:p>
            <a:pPr>
              <a:lnSpc>
                <a:spcPts val="3813"/>
              </a:lnSpc>
              <a:spcBef>
                <a:spcPct val="0"/>
              </a:spcBef>
            </a:pPr>
            <a:endParaRPr lang="en-US" sz="2800" spc="2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F18F1AC-DF5C-A4B7-FE51-03494CA55EC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7" r="-37"/>
            </a:stretch>
          </a:blipFill>
        </p:spPr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0FAC2658-7922-F0BA-A495-02682705ED58}"/>
              </a:ext>
            </a:extLst>
          </p:cNvPr>
          <p:cNvSpPr txBox="1"/>
          <p:nvPr/>
        </p:nvSpPr>
        <p:spPr>
          <a:xfrm>
            <a:off x="-304800" y="571500"/>
            <a:ext cx="7738773" cy="11816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 dirty="0">
                <a:solidFill>
                  <a:srgbClr val="00285E"/>
                </a:solidFill>
                <a:latin typeface="Arial Bold"/>
              </a:rPr>
              <a:t>Contents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1C4D035-E5AD-9CBC-4EC1-CDBA16230064}"/>
              </a:ext>
            </a:extLst>
          </p:cNvPr>
          <p:cNvSpPr txBox="1"/>
          <p:nvPr/>
        </p:nvSpPr>
        <p:spPr>
          <a:xfrm>
            <a:off x="5867400" y="1162303"/>
            <a:ext cx="9444327" cy="86347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4800" dirty="0">
                <a:solidFill>
                  <a:srgbClr val="00285E"/>
                </a:solidFill>
                <a:latin typeface="Arial"/>
              </a:rPr>
              <a:t>01. Motivation</a:t>
            </a:r>
          </a:p>
          <a:p>
            <a:pPr>
              <a:lnSpc>
                <a:spcPct val="200000"/>
              </a:lnSpc>
            </a:pPr>
            <a:r>
              <a:rPr lang="en-US" sz="4800" dirty="0">
                <a:solidFill>
                  <a:srgbClr val="00285E"/>
                </a:solidFill>
                <a:latin typeface="Arial"/>
              </a:rPr>
              <a:t>02. Goals</a:t>
            </a:r>
          </a:p>
          <a:p>
            <a:pPr>
              <a:lnSpc>
                <a:spcPct val="200000"/>
              </a:lnSpc>
            </a:pPr>
            <a:r>
              <a:rPr lang="en-US" sz="4800" dirty="0">
                <a:solidFill>
                  <a:srgbClr val="00285E"/>
                </a:solidFill>
                <a:latin typeface="Arial"/>
              </a:rPr>
              <a:t>03. Data exploration</a:t>
            </a:r>
          </a:p>
          <a:p>
            <a:pPr>
              <a:lnSpc>
                <a:spcPct val="200000"/>
              </a:lnSpc>
            </a:pPr>
            <a:r>
              <a:rPr lang="en-US" sz="4800" dirty="0">
                <a:solidFill>
                  <a:srgbClr val="00285E"/>
                </a:solidFill>
                <a:latin typeface="Arial"/>
              </a:rPr>
              <a:t>04. Hypothesis testing</a:t>
            </a:r>
          </a:p>
          <a:p>
            <a:pPr>
              <a:lnSpc>
                <a:spcPct val="200000"/>
              </a:lnSpc>
            </a:pPr>
            <a:r>
              <a:rPr lang="en-US" sz="4800" dirty="0">
                <a:solidFill>
                  <a:srgbClr val="00285E"/>
                </a:solidFill>
                <a:latin typeface="Arial"/>
              </a:rPr>
              <a:t>05. Predictive model</a:t>
            </a:r>
          </a:p>
          <a:p>
            <a:pPr>
              <a:lnSpc>
                <a:spcPct val="200000"/>
              </a:lnSpc>
            </a:pPr>
            <a:r>
              <a:rPr lang="en-US" sz="4800" dirty="0">
                <a:solidFill>
                  <a:srgbClr val="00285E"/>
                </a:solidFill>
                <a:latin typeface="Arial"/>
              </a:rPr>
              <a:t>06. Conclusion</a:t>
            </a:r>
          </a:p>
        </p:txBody>
      </p:sp>
    </p:spTree>
    <p:extLst>
      <p:ext uri="{BB962C8B-B14F-4D97-AF65-F5344CB8AC3E}">
        <p14:creationId xmlns:p14="http://schemas.microsoft.com/office/powerpoint/2010/main" val="2745537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F18F1AC-DF5C-A4B7-FE51-03494CA55EC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7" r="-37"/>
            </a:stretch>
          </a:blipFill>
        </p:spPr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0FAC2658-7922-F0BA-A495-02682705ED58}"/>
              </a:ext>
            </a:extLst>
          </p:cNvPr>
          <p:cNvSpPr txBox="1"/>
          <p:nvPr/>
        </p:nvSpPr>
        <p:spPr>
          <a:xfrm>
            <a:off x="609600" y="647700"/>
            <a:ext cx="7738773" cy="11816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 dirty="0">
                <a:solidFill>
                  <a:srgbClr val="00285E"/>
                </a:solidFill>
                <a:latin typeface="Arial Bold"/>
              </a:rPr>
              <a:t>Motivation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1C4D035-E5AD-9CBC-4EC1-CDBA16230064}"/>
              </a:ext>
            </a:extLst>
          </p:cNvPr>
          <p:cNvSpPr txBox="1"/>
          <p:nvPr/>
        </p:nvSpPr>
        <p:spPr>
          <a:xfrm>
            <a:off x="1524000" y="2237509"/>
            <a:ext cx="7162800" cy="73763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00285E"/>
                </a:solidFill>
                <a:latin typeface="Arial"/>
              </a:rPr>
              <a:t>Sleeping: an increasingly crucial problem</a:t>
            </a:r>
          </a:p>
          <a:p>
            <a:pPr>
              <a:lnSpc>
                <a:spcPct val="150000"/>
              </a:lnSpc>
            </a:pPr>
            <a:endParaRPr lang="en-US" sz="3600" dirty="0">
              <a:solidFill>
                <a:srgbClr val="00285E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altLang="zh-CN" sz="3600" dirty="0">
                <a:solidFill>
                  <a:srgbClr val="00285E"/>
                </a:solidFill>
                <a:latin typeface="Arial"/>
              </a:rPr>
              <a:t>What factors are related to</a:t>
            </a:r>
            <a:r>
              <a:rPr lang="en-US" sz="3600" dirty="0">
                <a:solidFill>
                  <a:srgbClr val="00285E"/>
                </a:solidFill>
                <a:latin typeface="Arial"/>
              </a:rPr>
              <a:t> the sleep duration?</a:t>
            </a:r>
          </a:p>
          <a:p>
            <a:pPr>
              <a:lnSpc>
                <a:spcPct val="150000"/>
              </a:lnSpc>
            </a:pPr>
            <a:endParaRPr lang="en-US" sz="3600" dirty="0">
              <a:solidFill>
                <a:srgbClr val="00285E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lang="en-US" sz="3600" dirty="0">
              <a:solidFill>
                <a:srgbClr val="00285E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00285E"/>
                </a:solidFill>
                <a:latin typeface="Arial"/>
              </a:rPr>
              <a:t>Inspirations to </a:t>
            </a:r>
            <a:r>
              <a:rPr lang="en-US" altLang="zh-CN" sz="3600" dirty="0">
                <a:solidFill>
                  <a:srgbClr val="00285E"/>
                </a:solidFill>
                <a:latin typeface="Arial"/>
              </a:rPr>
              <a:t>potential</a:t>
            </a:r>
            <a:r>
              <a:rPr lang="en-US" sz="3600" dirty="0">
                <a:solidFill>
                  <a:srgbClr val="00285E"/>
                </a:solidFill>
                <a:latin typeface="Arial"/>
              </a:rPr>
              <a:t> sleep problems</a:t>
            </a:r>
          </a:p>
        </p:txBody>
      </p:sp>
      <p:pic>
        <p:nvPicPr>
          <p:cNvPr id="1026" name="Picture 2" descr="睡眠 的图像结果">
            <a:extLst>
              <a:ext uri="{FF2B5EF4-FFF2-40B4-BE49-F238E27FC236}">
                <a16:creationId xmlns:a16="http://schemas.microsoft.com/office/drawing/2014/main" id="{EA9D7C5B-DAF5-D259-9871-6E04B35886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3600" y="2247900"/>
            <a:ext cx="7848600" cy="5718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箭头: 下 4">
            <a:extLst>
              <a:ext uri="{FF2B5EF4-FFF2-40B4-BE49-F238E27FC236}">
                <a16:creationId xmlns:a16="http://schemas.microsoft.com/office/drawing/2014/main" id="{338BE54B-0C20-3292-F978-744CF5F92D1B}"/>
              </a:ext>
            </a:extLst>
          </p:cNvPr>
          <p:cNvSpPr/>
          <p:nvPr/>
        </p:nvSpPr>
        <p:spPr>
          <a:xfrm>
            <a:off x="4250386" y="3467100"/>
            <a:ext cx="855014" cy="118160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箭头: 下 5">
            <a:extLst>
              <a:ext uri="{FF2B5EF4-FFF2-40B4-BE49-F238E27FC236}">
                <a16:creationId xmlns:a16="http://schemas.microsoft.com/office/drawing/2014/main" id="{2A08D37A-4FD8-C47D-208E-C63211FD714F}"/>
              </a:ext>
            </a:extLst>
          </p:cNvPr>
          <p:cNvSpPr/>
          <p:nvPr/>
        </p:nvSpPr>
        <p:spPr>
          <a:xfrm>
            <a:off x="4250386" y="6540462"/>
            <a:ext cx="855014" cy="118160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030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F18F1AC-DF5C-A4B7-FE51-03494CA55ECD}"/>
              </a:ext>
            </a:extLst>
          </p:cNvPr>
          <p:cNvSpPr/>
          <p:nvPr/>
        </p:nvSpPr>
        <p:spPr>
          <a:xfrm>
            <a:off x="0" y="-2667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7" r="-37"/>
            </a:stretch>
          </a:blipFill>
        </p:spPr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0FAC2658-7922-F0BA-A495-02682705ED58}"/>
              </a:ext>
            </a:extLst>
          </p:cNvPr>
          <p:cNvSpPr txBox="1"/>
          <p:nvPr/>
        </p:nvSpPr>
        <p:spPr>
          <a:xfrm>
            <a:off x="5274613" y="789382"/>
            <a:ext cx="7738773" cy="11816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 dirty="0">
                <a:solidFill>
                  <a:srgbClr val="00285E"/>
                </a:solidFill>
                <a:latin typeface="Arial Bold"/>
              </a:rPr>
              <a:t>Goals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1C4D035-E5AD-9CBC-4EC1-CDBA16230064}"/>
              </a:ext>
            </a:extLst>
          </p:cNvPr>
          <p:cNvSpPr txBox="1"/>
          <p:nvPr/>
        </p:nvSpPr>
        <p:spPr>
          <a:xfrm>
            <a:off x="1143000" y="2400300"/>
            <a:ext cx="16459200" cy="65190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4806" dirty="0">
                <a:solidFill>
                  <a:srgbClr val="00285E"/>
                </a:solidFill>
                <a:latin typeface="Arial"/>
              </a:rPr>
              <a:t>· </a:t>
            </a:r>
            <a:r>
              <a:rPr lang="en-US" sz="4806" dirty="0">
                <a:solidFill>
                  <a:srgbClr val="00285E"/>
                </a:solidFill>
                <a:latin typeface="Arial"/>
              </a:rPr>
              <a:t>Find some simple correlations between sleep duration and 	other factors</a:t>
            </a:r>
            <a:r>
              <a:rPr lang="en-US" altLang="zh-CN" sz="4806" dirty="0">
                <a:solidFill>
                  <a:srgbClr val="00285E"/>
                </a:solidFill>
                <a:latin typeface="Arial"/>
              </a:rPr>
              <a:t> with numerical values.</a:t>
            </a:r>
            <a:endParaRPr lang="en-US" sz="4806" dirty="0">
              <a:solidFill>
                <a:srgbClr val="00285E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altLang="zh-CN" sz="4806" dirty="0">
                <a:solidFill>
                  <a:srgbClr val="00285E"/>
                </a:solidFill>
                <a:latin typeface="Arial"/>
              </a:rPr>
              <a:t>· Examine the specific relationship between ‘body fitness’ 	and ‘sleep duration’.</a:t>
            </a:r>
          </a:p>
          <a:p>
            <a:pPr>
              <a:lnSpc>
                <a:spcPct val="150000"/>
              </a:lnSpc>
            </a:pPr>
            <a:r>
              <a:rPr lang="en-US" altLang="zh-CN" sz="4806" dirty="0">
                <a:solidFill>
                  <a:srgbClr val="00285E"/>
                </a:solidFill>
                <a:latin typeface="Arial"/>
              </a:rPr>
              <a:t>· Create a predict model between ‘sleep duration’ and [‘age’, 	‘physical activity level’, ‘stress level’].</a:t>
            </a:r>
            <a:endParaRPr lang="en-US" sz="4806" dirty="0">
              <a:solidFill>
                <a:srgbClr val="00285E"/>
              </a:solidFill>
              <a:latin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F4E6F04-9882-BCEB-2506-1E0A2DEA7EEE}"/>
                  </a:ext>
                </a:extLst>
              </p14:cNvPr>
              <p14:cNvContentPartPr/>
              <p14:nvPr/>
            </p14:nvContentPartPr>
            <p14:xfrm>
              <a:off x="2023566" y="1970988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F4E6F04-9882-BCEB-2506-1E0A2DEA7EE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17446" y="1964868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39117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7014" y="1143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" r="-37"/>
            </a:stretch>
          </a:blipFill>
        </p:spPr>
        <p:txBody>
          <a:bodyPr/>
          <a:lstStyle/>
          <a:p>
            <a:endParaRPr lang="zh-CN" altLang="en-US" dirty="0"/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A648A69D-D1E1-1893-1CB2-7C2AAAB69306}"/>
              </a:ext>
            </a:extLst>
          </p:cNvPr>
          <p:cNvSpPr txBox="1"/>
          <p:nvPr/>
        </p:nvSpPr>
        <p:spPr>
          <a:xfrm>
            <a:off x="26232" y="266700"/>
            <a:ext cx="8736767" cy="2476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altLang="zh-CN" sz="6000" b="1" dirty="0">
                <a:solidFill>
                  <a:srgbClr val="00285E"/>
                </a:solidFill>
                <a:latin typeface="Arial"/>
              </a:rPr>
              <a:t>Data exploration</a:t>
            </a:r>
          </a:p>
          <a:p>
            <a:pPr algn="ctr">
              <a:lnSpc>
                <a:spcPts val="10080"/>
              </a:lnSpc>
            </a:pPr>
            <a:endParaRPr lang="en-US" sz="6000" b="1" dirty="0">
              <a:solidFill>
                <a:srgbClr val="00285E"/>
              </a:solidFill>
              <a:latin typeface="Arial 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09940A-EC28-07FB-B419-C1AC06F0CA9D}"/>
              </a:ext>
            </a:extLst>
          </p:cNvPr>
          <p:cNvSpPr txBox="1"/>
          <p:nvPr/>
        </p:nvSpPr>
        <p:spPr>
          <a:xfrm>
            <a:off x="1193484" y="1780141"/>
            <a:ext cx="12496800" cy="331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600" dirty="0">
                <a:solidFill>
                  <a:srgbClr val="00285E"/>
                </a:solidFill>
                <a:latin typeface="Arial"/>
              </a:rPr>
              <a:t>We find a dataset in Kaggle [1] with these columns: </a:t>
            </a:r>
          </a:p>
          <a:p>
            <a:pPr>
              <a:lnSpc>
                <a:spcPct val="150000"/>
              </a:lnSpc>
            </a:pPr>
            <a:r>
              <a:rPr lang="en-US" altLang="zh-CN" sz="3600" dirty="0">
                <a:solidFill>
                  <a:srgbClr val="00285E"/>
                </a:solidFill>
                <a:latin typeface="Arial"/>
              </a:rPr>
              <a:t>Sleep duration, Sleep Quality</a:t>
            </a:r>
          </a:p>
          <a:p>
            <a:pPr>
              <a:lnSpc>
                <a:spcPct val="150000"/>
              </a:lnSpc>
            </a:pPr>
            <a:r>
              <a:rPr lang="en-US" altLang="zh-CN" sz="3600" dirty="0">
                <a:solidFill>
                  <a:srgbClr val="00285E"/>
                </a:solidFill>
                <a:latin typeface="Arial"/>
              </a:rPr>
              <a:t>Age, occupation, sex, physical activity levels, stress levels, BMI categories, blood pressure, heart rate, and daily steps.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F77DDB4-689F-12A7-3422-E2515831D1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1570" y="5476492"/>
            <a:ext cx="9064858" cy="256630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EF4D5DC-633E-D4EF-3994-02D22737475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36946" y="7353300"/>
            <a:ext cx="3676681" cy="227137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DE5C699-5FE1-EAAD-0B3B-04C861DAAA3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3239" r="20423"/>
          <a:stretch/>
        </p:blipFill>
        <p:spPr>
          <a:xfrm>
            <a:off x="14249400" y="1448306"/>
            <a:ext cx="3048000" cy="3048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B25E45C-A99C-5B9C-4613-74BCE1D0060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37" b="6296"/>
          <a:stretch/>
        </p:blipFill>
        <p:spPr>
          <a:xfrm>
            <a:off x="699290" y="7485166"/>
            <a:ext cx="4240273" cy="256630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1AE68E2-43F7-B0AD-15F0-0911BF9432B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81" y="8191500"/>
            <a:ext cx="4061744" cy="966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831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" r="-37"/>
            </a:stretch>
          </a:blipFill>
        </p:spPr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A648A69D-D1E1-1893-1CB2-7C2AAAB69306}"/>
              </a:ext>
            </a:extLst>
          </p:cNvPr>
          <p:cNvSpPr txBox="1"/>
          <p:nvPr/>
        </p:nvSpPr>
        <p:spPr>
          <a:xfrm>
            <a:off x="26232" y="266700"/>
            <a:ext cx="8584367" cy="2476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altLang="zh-CN" sz="6000" b="1" dirty="0">
                <a:solidFill>
                  <a:srgbClr val="00285E"/>
                </a:solidFill>
                <a:latin typeface="Arial"/>
              </a:rPr>
              <a:t>Data exploration</a:t>
            </a:r>
          </a:p>
          <a:p>
            <a:pPr algn="ctr">
              <a:lnSpc>
                <a:spcPts val="10080"/>
              </a:lnSpc>
            </a:pPr>
            <a:endParaRPr lang="en-US" sz="6000" b="1" dirty="0">
              <a:solidFill>
                <a:srgbClr val="00285E"/>
              </a:solidFill>
              <a:latin typeface="Arial Bold"/>
            </a:endParaRPr>
          </a:p>
        </p:txBody>
      </p:sp>
      <p:sp>
        <p:nvSpPr>
          <p:cNvPr id="22" name="TextBox 4">
            <a:extLst>
              <a:ext uri="{FF2B5EF4-FFF2-40B4-BE49-F238E27FC236}">
                <a16:creationId xmlns:a16="http://schemas.microsoft.com/office/drawing/2014/main" id="{2DFD1D24-EC6F-1F83-437C-C6C1EA9EB1A6}"/>
              </a:ext>
            </a:extLst>
          </p:cNvPr>
          <p:cNvSpPr txBox="1"/>
          <p:nvPr/>
        </p:nvSpPr>
        <p:spPr>
          <a:xfrm>
            <a:off x="2648444" y="2062145"/>
            <a:ext cx="12991112" cy="21247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00285E"/>
                </a:solidFill>
                <a:latin typeface="Arial"/>
              </a:rPr>
              <a:t>We use .</a:t>
            </a:r>
            <a:r>
              <a:rPr lang="en-US" sz="3200" dirty="0" err="1">
                <a:solidFill>
                  <a:srgbClr val="00285E"/>
                </a:solidFill>
                <a:latin typeface="Arial"/>
              </a:rPr>
              <a:t>corr</a:t>
            </a:r>
            <a:r>
              <a:rPr lang="en-US" sz="3200" dirty="0">
                <a:solidFill>
                  <a:srgbClr val="00285E"/>
                </a:solidFill>
                <a:latin typeface="Arial"/>
              </a:rPr>
              <a:t>() and </a:t>
            </a:r>
            <a:r>
              <a:rPr lang="en-US" sz="3200" dirty="0" err="1">
                <a:solidFill>
                  <a:srgbClr val="00285E"/>
                </a:solidFill>
                <a:latin typeface="Arial"/>
              </a:rPr>
              <a:t>sns.heatmap</a:t>
            </a:r>
            <a:r>
              <a:rPr lang="en-US" sz="3200" dirty="0">
                <a:solidFill>
                  <a:srgbClr val="00285E"/>
                </a:solidFill>
                <a:latin typeface="Arial"/>
              </a:rPr>
              <a:t>() to create this </a:t>
            </a:r>
            <a:r>
              <a:rPr lang="en-US" altLang="zh-CN" sz="3200" dirty="0">
                <a:solidFill>
                  <a:srgbClr val="00285E"/>
                </a:solidFill>
                <a:latin typeface="Arial"/>
              </a:rPr>
              <a:t>Correlation Heatmap. </a:t>
            </a:r>
          </a:p>
          <a:p>
            <a:pPr>
              <a:lnSpc>
                <a:spcPct val="150000"/>
              </a:lnSpc>
            </a:pPr>
            <a:r>
              <a:rPr lang="en-US" altLang="zh-CN" sz="3200" dirty="0">
                <a:solidFill>
                  <a:srgbClr val="00285E"/>
                </a:solidFill>
                <a:latin typeface="Arial"/>
              </a:rPr>
              <a:t>(Only include the numeric factors)</a:t>
            </a:r>
          </a:p>
          <a:p>
            <a:pPr>
              <a:lnSpc>
                <a:spcPct val="150000"/>
              </a:lnSpc>
            </a:pPr>
            <a:endParaRPr lang="en-US" altLang="zh-CN" sz="3200" dirty="0">
              <a:solidFill>
                <a:srgbClr val="00285E"/>
              </a:solidFill>
              <a:latin typeface="Arial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8549A73-648D-F804-AB04-092C0C3F0FB9}"/>
              </a:ext>
            </a:extLst>
          </p:cNvPr>
          <p:cNvSpPr txBox="1"/>
          <p:nvPr/>
        </p:nvSpPr>
        <p:spPr>
          <a:xfrm>
            <a:off x="14020800" y="8953500"/>
            <a:ext cx="39783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 err="1"/>
              <a:t>P_high</a:t>
            </a:r>
            <a:r>
              <a:rPr lang="en-US" altLang="zh-CN" i="1" dirty="0"/>
              <a:t> means the high blood pressure</a:t>
            </a:r>
          </a:p>
          <a:p>
            <a:r>
              <a:rPr lang="en-US" altLang="zh-CN" i="1" dirty="0" err="1"/>
              <a:t>P_low</a:t>
            </a:r>
            <a:r>
              <a:rPr lang="en-US" altLang="zh-CN" i="1" dirty="0"/>
              <a:t> means the low blood pressure</a:t>
            </a:r>
            <a:endParaRPr lang="zh-CN" altLang="en-US" i="1" dirty="0"/>
          </a:p>
          <a:p>
            <a:endParaRPr lang="zh-CN" altLang="en-US" i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CCE9BBC-6937-FCDA-FF8B-F44E9D56C7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033" y="4291784"/>
            <a:ext cx="12991112" cy="41304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3160" y="72258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" r="-37"/>
            </a:stretch>
          </a:blipFill>
        </p:spPr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D4FFA76-06AD-FA93-3F5D-4A5463CD2B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9393" y="444972"/>
            <a:ext cx="11389422" cy="9562475"/>
          </a:xfrm>
          <a:prstGeom prst="rect">
            <a:avLst/>
          </a:prstGeom>
        </p:spPr>
      </p:pic>
      <p:sp>
        <p:nvSpPr>
          <p:cNvPr id="20" name="TextBox 6">
            <a:extLst>
              <a:ext uri="{FF2B5EF4-FFF2-40B4-BE49-F238E27FC236}">
                <a16:creationId xmlns:a16="http://schemas.microsoft.com/office/drawing/2014/main" id="{A648A69D-D1E1-1893-1CB2-7C2AAAB69306}"/>
              </a:ext>
            </a:extLst>
          </p:cNvPr>
          <p:cNvSpPr txBox="1"/>
          <p:nvPr/>
        </p:nvSpPr>
        <p:spPr>
          <a:xfrm>
            <a:off x="26232" y="266700"/>
            <a:ext cx="7441367" cy="2476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altLang="zh-CN" sz="6000" b="1" dirty="0">
                <a:solidFill>
                  <a:srgbClr val="00285E"/>
                </a:solidFill>
                <a:latin typeface="Arial"/>
              </a:rPr>
              <a:t>Data exploration</a:t>
            </a:r>
          </a:p>
          <a:p>
            <a:pPr algn="ctr">
              <a:lnSpc>
                <a:spcPts val="10080"/>
              </a:lnSpc>
            </a:pPr>
            <a:endParaRPr lang="en-US" sz="6000" b="1" dirty="0">
              <a:solidFill>
                <a:srgbClr val="00285E"/>
              </a:solidFill>
              <a:latin typeface="Arial Bold"/>
            </a:endParaRPr>
          </a:p>
        </p:txBody>
      </p:sp>
      <p:sp>
        <p:nvSpPr>
          <p:cNvPr id="22" name="TextBox 4">
            <a:extLst>
              <a:ext uri="{FF2B5EF4-FFF2-40B4-BE49-F238E27FC236}">
                <a16:creationId xmlns:a16="http://schemas.microsoft.com/office/drawing/2014/main" id="{2DFD1D24-EC6F-1F83-437C-C6C1EA9EB1A6}"/>
              </a:ext>
            </a:extLst>
          </p:cNvPr>
          <p:cNvSpPr txBox="1"/>
          <p:nvPr/>
        </p:nvSpPr>
        <p:spPr>
          <a:xfrm>
            <a:off x="533400" y="3543300"/>
            <a:ext cx="6801465" cy="21247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>
                <a:solidFill>
                  <a:srgbClr val="00285E"/>
                </a:solidFill>
                <a:latin typeface="Arial"/>
              </a:rPr>
              <a:t>The sleep duration is highly correlated with the quality of sleep. and s</a:t>
            </a:r>
            <a:r>
              <a:rPr lang="en-US" sz="3200" dirty="0">
                <a:solidFill>
                  <a:srgbClr val="00285E"/>
                </a:solidFill>
                <a:latin typeface="Arial"/>
              </a:rPr>
              <a:t>tress level.(0.88 and -0.81)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8549A73-648D-F804-AB04-092C0C3F0FB9}"/>
              </a:ext>
            </a:extLst>
          </p:cNvPr>
          <p:cNvSpPr txBox="1"/>
          <p:nvPr/>
        </p:nvSpPr>
        <p:spPr>
          <a:xfrm>
            <a:off x="14249400" y="9066799"/>
            <a:ext cx="374974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 err="1"/>
              <a:t>P_high</a:t>
            </a:r>
            <a:r>
              <a:rPr lang="en-US" altLang="zh-CN" i="1" dirty="0"/>
              <a:t> means the high blood pressure</a:t>
            </a:r>
          </a:p>
          <a:p>
            <a:r>
              <a:rPr lang="en-US" altLang="zh-CN" i="1" dirty="0" err="1"/>
              <a:t>P_low</a:t>
            </a:r>
            <a:r>
              <a:rPr lang="en-US" altLang="zh-CN" i="1" dirty="0"/>
              <a:t> means the low blood pressure</a:t>
            </a:r>
            <a:endParaRPr lang="zh-CN" altLang="en-US" i="1" dirty="0"/>
          </a:p>
          <a:p>
            <a:endParaRPr lang="zh-CN" altLang="en-US" i="1" dirty="0"/>
          </a:p>
        </p:txBody>
      </p:sp>
    </p:spTree>
    <p:extLst>
      <p:ext uri="{BB962C8B-B14F-4D97-AF65-F5344CB8AC3E}">
        <p14:creationId xmlns:p14="http://schemas.microsoft.com/office/powerpoint/2010/main" val="4080079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5305" y="-52614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" r="-37"/>
            </a:stretch>
          </a:blipFill>
        </p:spPr>
        <p:txBody>
          <a:bodyPr/>
          <a:lstStyle/>
          <a:p>
            <a:endParaRPr lang="zh-CN" altLang="en-US" dirty="0"/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A648A69D-D1E1-1893-1CB2-7C2AAAB69306}"/>
              </a:ext>
            </a:extLst>
          </p:cNvPr>
          <p:cNvSpPr txBox="1"/>
          <p:nvPr/>
        </p:nvSpPr>
        <p:spPr>
          <a:xfrm>
            <a:off x="-76200" y="184943"/>
            <a:ext cx="7974767" cy="2476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altLang="zh-CN" sz="6000" b="1" dirty="0">
                <a:solidFill>
                  <a:srgbClr val="00285E"/>
                </a:solidFill>
                <a:latin typeface="Arial"/>
              </a:rPr>
              <a:t>Data exploration</a:t>
            </a:r>
          </a:p>
          <a:p>
            <a:pPr algn="ctr">
              <a:lnSpc>
                <a:spcPts val="10080"/>
              </a:lnSpc>
            </a:pPr>
            <a:endParaRPr lang="en-US" sz="6000" b="1" dirty="0">
              <a:solidFill>
                <a:srgbClr val="00285E"/>
              </a:solidFill>
              <a:latin typeface="Arial Bold"/>
            </a:endParaRPr>
          </a:p>
        </p:txBody>
      </p:sp>
      <p:sp>
        <p:nvSpPr>
          <p:cNvPr id="22" name="TextBox 4">
            <a:extLst>
              <a:ext uri="{FF2B5EF4-FFF2-40B4-BE49-F238E27FC236}">
                <a16:creationId xmlns:a16="http://schemas.microsoft.com/office/drawing/2014/main" id="{2DFD1D24-EC6F-1F83-437C-C6C1EA9EB1A6}"/>
              </a:ext>
            </a:extLst>
          </p:cNvPr>
          <p:cNvSpPr txBox="1"/>
          <p:nvPr/>
        </p:nvSpPr>
        <p:spPr>
          <a:xfrm>
            <a:off x="1104899" y="1199422"/>
            <a:ext cx="15621000" cy="9723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806" dirty="0">
                <a:solidFill>
                  <a:srgbClr val="00285E"/>
                </a:solidFill>
                <a:latin typeface="Arial"/>
              </a:rPr>
              <a:t>The relationship between sleep duration and occupation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BD01A0-6285-5ED2-07E2-5EE9A5FFCD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6947" y="3790261"/>
            <a:ext cx="11294235" cy="594360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FB96112-A6EC-0BA3-4D9B-D713C0052D37}"/>
              </a:ext>
            </a:extLst>
          </p:cNvPr>
          <p:cNvCxnSpPr>
            <a:cxnSpLocks/>
          </p:cNvCxnSpPr>
          <p:nvPr/>
        </p:nvCxnSpPr>
        <p:spPr>
          <a:xfrm>
            <a:off x="3505200" y="9105899"/>
            <a:ext cx="2286000" cy="1"/>
          </a:xfrm>
          <a:prstGeom prst="straightConnector1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EF90E5F-D020-2261-11DE-1A79B53BFA7B}"/>
              </a:ext>
            </a:extLst>
          </p:cNvPr>
          <p:cNvSpPr txBox="1"/>
          <p:nvPr/>
        </p:nvSpPr>
        <p:spPr>
          <a:xfrm>
            <a:off x="1149066" y="8813511"/>
            <a:ext cx="21108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Interesting!</a:t>
            </a:r>
            <a:endParaRPr lang="zh-CN" altLang="en-US" sz="3200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1910E02-6965-EAF2-804F-F325FA47486D}"/>
              </a:ext>
            </a:extLst>
          </p:cNvPr>
          <p:cNvCxnSpPr>
            <a:cxnSpLocks/>
          </p:cNvCxnSpPr>
          <p:nvPr/>
        </p:nvCxnSpPr>
        <p:spPr>
          <a:xfrm flipH="1">
            <a:off x="13716000" y="6134100"/>
            <a:ext cx="2057400" cy="0"/>
          </a:xfrm>
          <a:prstGeom prst="straightConnector1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9005F1C-F7C1-FCA0-355E-7951914EC506}"/>
              </a:ext>
            </a:extLst>
          </p:cNvPr>
          <p:cNvSpPr txBox="1"/>
          <p:nvPr/>
        </p:nvSpPr>
        <p:spPr>
          <a:xfrm>
            <a:off x="15742296" y="5841712"/>
            <a:ext cx="11741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Wow!</a:t>
            </a:r>
            <a:endParaRPr lang="zh-CN" altLang="en-US" sz="32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FD13F65-2339-F4BE-AB9E-31D3E59BBB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582" y="2618345"/>
            <a:ext cx="13397635" cy="106535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797D6FB9-2C47-7D16-496E-B8B7AE1E23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429" y="4533900"/>
            <a:ext cx="4533625" cy="3999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13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" r="-37"/>
            </a:stretch>
          </a:blipFill>
        </p:spPr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A648A69D-D1E1-1893-1CB2-7C2AAAB69306}"/>
              </a:ext>
            </a:extLst>
          </p:cNvPr>
          <p:cNvSpPr txBox="1"/>
          <p:nvPr/>
        </p:nvSpPr>
        <p:spPr>
          <a:xfrm>
            <a:off x="26232" y="266700"/>
            <a:ext cx="7593767" cy="2476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altLang="zh-CN" sz="6000" b="1" dirty="0">
                <a:solidFill>
                  <a:srgbClr val="00285E"/>
                </a:solidFill>
                <a:latin typeface="Arial"/>
              </a:rPr>
              <a:t>Data exploration</a:t>
            </a:r>
          </a:p>
          <a:p>
            <a:pPr algn="ctr">
              <a:lnSpc>
                <a:spcPts val="10080"/>
              </a:lnSpc>
            </a:pPr>
            <a:endParaRPr lang="en-US" sz="6000" b="1" dirty="0">
              <a:solidFill>
                <a:srgbClr val="00285E"/>
              </a:solidFill>
              <a:latin typeface="Arial Bold"/>
            </a:endParaRPr>
          </a:p>
        </p:txBody>
      </p:sp>
      <p:sp>
        <p:nvSpPr>
          <p:cNvPr id="22" name="TextBox 4">
            <a:extLst>
              <a:ext uri="{FF2B5EF4-FFF2-40B4-BE49-F238E27FC236}">
                <a16:creationId xmlns:a16="http://schemas.microsoft.com/office/drawing/2014/main" id="{2DFD1D24-EC6F-1F83-437C-C6C1EA9EB1A6}"/>
              </a:ext>
            </a:extLst>
          </p:cNvPr>
          <p:cNvSpPr txBox="1"/>
          <p:nvPr/>
        </p:nvSpPr>
        <p:spPr>
          <a:xfrm>
            <a:off x="457200" y="1448306"/>
            <a:ext cx="18211800" cy="32213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600" dirty="0">
                <a:solidFill>
                  <a:srgbClr val="00285E"/>
                </a:solidFill>
                <a:latin typeface="Arial"/>
              </a:rPr>
              <a:t>·H</a:t>
            </a:r>
            <a:r>
              <a:rPr lang="en-US" sz="3600" dirty="0">
                <a:solidFill>
                  <a:srgbClr val="00285E"/>
                </a:solidFill>
                <a:latin typeface="Arial"/>
              </a:rPr>
              <a:t>igher age does not necessarily lead to lower sleep duration.</a:t>
            </a:r>
          </a:p>
          <a:p>
            <a:pPr>
              <a:lnSpc>
                <a:spcPct val="150000"/>
              </a:lnSpc>
            </a:pPr>
            <a:r>
              <a:rPr lang="en-US" altLang="zh-CN" sz="3600" dirty="0">
                <a:solidFill>
                  <a:srgbClr val="00285E"/>
                </a:solidFill>
                <a:latin typeface="Arial"/>
              </a:rPr>
              <a:t>·</a:t>
            </a:r>
            <a:r>
              <a:rPr lang="en-US" sz="3600" dirty="0">
                <a:solidFill>
                  <a:srgbClr val="00285E"/>
                </a:solidFill>
                <a:latin typeface="Arial"/>
              </a:rPr>
              <a:t>The difference for sleeping </a:t>
            </a:r>
            <a:r>
              <a:rPr lang="en-US" altLang="zh-CN" sz="3600" dirty="0">
                <a:solidFill>
                  <a:srgbClr val="00285E"/>
                </a:solidFill>
                <a:latin typeface="Arial"/>
              </a:rPr>
              <a:t>duration</a:t>
            </a:r>
            <a:r>
              <a:rPr lang="en-US" sz="3600" dirty="0">
                <a:solidFill>
                  <a:srgbClr val="00285E"/>
                </a:solidFill>
                <a:latin typeface="Arial"/>
              </a:rPr>
              <a:t> is not very significant for two genders.</a:t>
            </a:r>
          </a:p>
          <a:p>
            <a:pPr>
              <a:lnSpc>
                <a:spcPct val="150000"/>
              </a:lnSpc>
            </a:pPr>
            <a:r>
              <a:rPr lang="en-US" altLang="zh-CN" sz="3600" dirty="0">
                <a:solidFill>
                  <a:srgbClr val="00285E"/>
                </a:solidFill>
                <a:latin typeface="Arial"/>
              </a:rPr>
              <a:t>·</a:t>
            </a:r>
            <a:r>
              <a:rPr lang="en-US" sz="3600" dirty="0">
                <a:solidFill>
                  <a:srgbClr val="00285E"/>
                </a:solidFill>
                <a:latin typeface="Arial"/>
              </a:rPr>
              <a:t>Both male and female participants show a age of significantly lower sleeping duration. </a:t>
            </a:r>
          </a:p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00285E"/>
                </a:solidFill>
                <a:latin typeface="Arial"/>
              </a:rPr>
              <a:t>For </a:t>
            </a:r>
            <a:r>
              <a:rPr lang="en-US" altLang="zh-CN" sz="3600" dirty="0">
                <a:solidFill>
                  <a:srgbClr val="00285E"/>
                </a:solidFill>
                <a:latin typeface="Arial"/>
              </a:rPr>
              <a:t>both male and </a:t>
            </a:r>
            <a:r>
              <a:rPr lang="en-US" sz="3600" dirty="0">
                <a:solidFill>
                  <a:srgbClr val="00285E"/>
                </a:solidFill>
                <a:latin typeface="Arial"/>
              </a:rPr>
              <a:t>female, the lowest point is around age 34.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A60ABE-5BC2-64DE-F00B-1D21B0632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5300" y="5007850"/>
            <a:ext cx="9677400" cy="501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271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" r="-37"/>
            </a:stretch>
          </a:blipFill>
        </p:spPr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A648A69D-D1E1-1893-1CB2-7C2AAAB69306}"/>
              </a:ext>
            </a:extLst>
          </p:cNvPr>
          <p:cNvSpPr txBox="1"/>
          <p:nvPr/>
        </p:nvSpPr>
        <p:spPr>
          <a:xfrm>
            <a:off x="26232" y="266700"/>
            <a:ext cx="8203367" cy="2476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altLang="zh-CN" sz="6000" b="1" dirty="0">
                <a:solidFill>
                  <a:srgbClr val="00285E"/>
                </a:solidFill>
                <a:latin typeface="Arial"/>
              </a:rPr>
              <a:t>Data exploration</a:t>
            </a:r>
          </a:p>
          <a:p>
            <a:pPr algn="ctr">
              <a:lnSpc>
                <a:spcPts val="10080"/>
              </a:lnSpc>
            </a:pPr>
            <a:endParaRPr lang="en-US" sz="6000" b="1" dirty="0">
              <a:solidFill>
                <a:srgbClr val="00285E"/>
              </a:solidFill>
              <a:latin typeface="Arial Bold"/>
            </a:endParaRPr>
          </a:p>
        </p:txBody>
      </p:sp>
      <p:sp>
        <p:nvSpPr>
          <p:cNvPr id="22" name="TextBox 4">
            <a:extLst>
              <a:ext uri="{FF2B5EF4-FFF2-40B4-BE49-F238E27FC236}">
                <a16:creationId xmlns:a16="http://schemas.microsoft.com/office/drawing/2014/main" id="{2DFD1D24-EC6F-1F83-437C-C6C1EA9EB1A6}"/>
              </a:ext>
            </a:extLst>
          </p:cNvPr>
          <p:cNvSpPr txBox="1"/>
          <p:nvPr/>
        </p:nvSpPr>
        <p:spPr>
          <a:xfrm>
            <a:off x="609600" y="3994017"/>
            <a:ext cx="15392400" cy="59684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400" dirty="0">
                <a:solidFill>
                  <a:srgbClr val="00285E"/>
                </a:solidFill>
                <a:latin typeface="Arial"/>
              </a:rPr>
              <a:t>This is the mean values of the population whose blood pressure is healthy or not. (True means the blood pressure is in the ideal range)</a:t>
            </a:r>
          </a:p>
          <a:p>
            <a:pPr>
              <a:lnSpc>
                <a:spcPct val="150000"/>
              </a:lnSpc>
            </a:pPr>
            <a:r>
              <a:rPr lang="en-US" altLang="zh-CN" sz="4400" dirty="0">
                <a:solidFill>
                  <a:srgbClr val="00285E"/>
                </a:solidFill>
                <a:latin typeface="Arial"/>
              </a:rPr>
              <a:t>The sleep duration is similar in two groups. This result is beyond our expectation.</a:t>
            </a:r>
            <a:r>
              <a:rPr lang="en-US" altLang="zh-CN" sz="4400" dirty="0">
                <a:solidFill>
                  <a:srgbClr val="00285E"/>
                </a:solidFill>
                <a:latin typeface="Arial"/>
                <a:sym typeface="Wingdings" panose="05000000000000000000" pitchFamily="2" charset="2"/>
              </a:rPr>
              <a:t></a:t>
            </a:r>
          </a:p>
          <a:p>
            <a:pPr>
              <a:lnSpc>
                <a:spcPct val="150000"/>
              </a:lnSpc>
            </a:pPr>
            <a:r>
              <a:rPr lang="en-US" sz="4400" dirty="0">
                <a:solidFill>
                  <a:srgbClr val="00285E"/>
                </a:solidFill>
                <a:latin typeface="Arial"/>
                <a:sym typeface="Wingdings" panose="05000000000000000000" pitchFamily="2" charset="2"/>
              </a:rPr>
              <a:t>So maybe there isn’t a strong relationship between them.</a:t>
            </a:r>
            <a:endParaRPr lang="en-US" sz="4400" dirty="0">
              <a:solidFill>
                <a:srgbClr val="00285E"/>
              </a:solidFill>
              <a:latin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F762E5-3187-D6CC-B6BB-837BE1816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471756"/>
            <a:ext cx="18288000" cy="2498811"/>
          </a:xfrm>
          <a:prstGeom prst="rect">
            <a:avLst/>
          </a:prstGeom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84C3CE37-AB6A-E0E3-8A3A-C55C9CEE0D3F}"/>
              </a:ext>
            </a:extLst>
          </p:cNvPr>
          <p:cNvSpPr/>
          <p:nvPr/>
        </p:nvSpPr>
        <p:spPr>
          <a:xfrm>
            <a:off x="3505200" y="1676906"/>
            <a:ext cx="1447800" cy="2094994"/>
          </a:xfrm>
          <a:prstGeom prst="round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8136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" r="-37"/>
            </a:stretch>
          </a:blipFill>
        </p:spPr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A648A69D-D1E1-1893-1CB2-7C2AAAB69306}"/>
              </a:ext>
            </a:extLst>
          </p:cNvPr>
          <p:cNvSpPr txBox="1"/>
          <p:nvPr/>
        </p:nvSpPr>
        <p:spPr>
          <a:xfrm>
            <a:off x="26232" y="266700"/>
            <a:ext cx="9117767" cy="11816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 dirty="0">
                <a:solidFill>
                  <a:srgbClr val="00285E"/>
                </a:solidFill>
                <a:latin typeface="Arial Bold"/>
              </a:rPr>
              <a:t>Hypothesis testing</a:t>
            </a:r>
          </a:p>
        </p:txBody>
      </p:sp>
      <p:sp>
        <p:nvSpPr>
          <p:cNvPr id="22" name="TextBox 4">
            <a:extLst>
              <a:ext uri="{FF2B5EF4-FFF2-40B4-BE49-F238E27FC236}">
                <a16:creationId xmlns:a16="http://schemas.microsoft.com/office/drawing/2014/main" id="{2DFD1D24-EC6F-1F83-437C-C6C1EA9EB1A6}"/>
              </a:ext>
            </a:extLst>
          </p:cNvPr>
          <p:cNvSpPr txBox="1"/>
          <p:nvPr/>
        </p:nvSpPr>
        <p:spPr>
          <a:xfrm>
            <a:off x="1962148" y="2933700"/>
            <a:ext cx="14363701" cy="87377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806" dirty="0">
                <a:solidFill>
                  <a:srgbClr val="00285E"/>
                </a:solidFill>
                <a:latin typeface="Arial"/>
              </a:rPr>
              <a:t>Null Hypothesis:</a:t>
            </a:r>
          </a:p>
          <a:p>
            <a:pPr>
              <a:lnSpc>
                <a:spcPct val="150000"/>
              </a:lnSpc>
            </a:pPr>
            <a:r>
              <a:rPr lang="en-US" sz="4806" b="1" dirty="0">
                <a:solidFill>
                  <a:srgbClr val="00285E"/>
                </a:solidFill>
                <a:latin typeface="Arial"/>
              </a:rPr>
              <a:t> </a:t>
            </a:r>
            <a:r>
              <a:rPr lang="en-US" altLang="zh-CN" sz="4806" b="1" dirty="0">
                <a:solidFill>
                  <a:srgbClr val="00285E"/>
                </a:solidFill>
                <a:latin typeface="Arial"/>
              </a:rPr>
              <a:t>There is no relationship between ‘higher weight’ and  ‘Sleep duration’.</a:t>
            </a:r>
          </a:p>
          <a:p>
            <a:pPr>
              <a:lnSpc>
                <a:spcPct val="150000"/>
              </a:lnSpc>
            </a:pPr>
            <a:endParaRPr lang="en-US" altLang="zh-CN" sz="4806" b="1" dirty="0">
              <a:solidFill>
                <a:srgbClr val="00285E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altLang="zh-CN" sz="4806" dirty="0">
                <a:solidFill>
                  <a:srgbClr val="00285E"/>
                </a:solidFill>
                <a:latin typeface="Arial"/>
              </a:rPr>
              <a:t>Alternative Hypothesis:</a:t>
            </a:r>
          </a:p>
          <a:p>
            <a:pPr>
              <a:lnSpc>
                <a:spcPct val="150000"/>
              </a:lnSpc>
            </a:pPr>
            <a:r>
              <a:rPr lang="en-US" altLang="zh-CN" sz="4806" b="1" dirty="0">
                <a:solidFill>
                  <a:srgbClr val="00285E"/>
                </a:solidFill>
                <a:latin typeface="Arial"/>
              </a:rPr>
              <a:t> ‘Higher weight’ relates to lower  ‘Sleep duration’.</a:t>
            </a:r>
          </a:p>
          <a:p>
            <a:pPr>
              <a:lnSpc>
                <a:spcPct val="150000"/>
              </a:lnSpc>
            </a:pPr>
            <a:endParaRPr lang="en-US" altLang="zh-CN" sz="4806" dirty="0">
              <a:solidFill>
                <a:srgbClr val="00285E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lang="en-US" sz="4806" dirty="0">
              <a:solidFill>
                <a:srgbClr val="00285E"/>
              </a:solidFill>
              <a:latin typeface="Arial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45FD82B-CEF9-EB92-ECC4-20C08B6A427C}"/>
              </a:ext>
            </a:extLst>
          </p:cNvPr>
          <p:cNvSpPr txBox="1"/>
          <p:nvPr/>
        </p:nvSpPr>
        <p:spPr>
          <a:xfrm>
            <a:off x="1371598" y="1722439"/>
            <a:ext cx="1554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rgbClr val="00285E"/>
                </a:solidFill>
                <a:latin typeface="Arial"/>
              </a:rPr>
              <a:t>We want to test the relationship between fitness (BMI) and sleep duration:</a:t>
            </a:r>
            <a:endParaRPr lang="zh-CN" altLang="en-US" sz="3600" dirty="0">
              <a:solidFill>
                <a:srgbClr val="00285E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4436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377" y="72557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" r="-37"/>
            </a:stretch>
          </a:blipFill>
        </p:spPr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A648A69D-D1E1-1893-1CB2-7C2AAAB69306}"/>
              </a:ext>
            </a:extLst>
          </p:cNvPr>
          <p:cNvSpPr txBox="1"/>
          <p:nvPr/>
        </p:nvSpPr>
        <p:spPr>
          <a:xfrm>
            <a:off x="26232" y="266700"/>
            <a:ext cx="9117767" cy="11816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 dirty="0">
                <a:solidFill>
                  <a:srgbClr val="00285E"/>
                </a:solidFill>
                <a:latin typeface="Arial Bold"/>
              </a:rPr>
              <a:t>Hypothesis testing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4D68E29-6599-2720-17C9-E84FB32AE9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2466" y="1458697"/>
            <a:ext cx="13203065" cy="342849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89C79A8-44E3-CAA8-6064-2DB97D8E51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9630" y="5399810"/>
            <a:ext cx="9268378" cy="178687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32ABDB9-D0B6-AB6D-9464-549D96DC58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8103" y="7260574"/>
            <a:ext cx="13582292" cy="260993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7CC97E3-2985-B52F-EE15-9696DDC31E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86110" y="4638854"/>
            <a:ext cx="3463787" cy="3414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9353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" r="-37"/>
            </a:stretch>
          </a:blipFill>
        </p:spPr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A648A69D-D1E1-1893-1CB2-7C2AAAB69306}"/>
              </a:ext>
            </a:extLst>
          </p:cNvPr>
          <p:cNvSpPr txBox="1"/>
          <p:nvPr/>
        </p:nvSpPr>
        <p:spPr>
          <a:xfrm>
            <a:off x="26232" y="266700"/>
            <a:ext cx="9117767" cy="11816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 dirty="0">
                <a:solidFill>
                  <a:srgbClr val="00285E"/>
                </a:solidFill>
                <a:latin typeface="Arial Bold"/>
              </a:rPr>
              <a:t>Hypothesis testing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302202B-B7F6-751B-83BE-710F7A6B0F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558" y="1562100"/>
            <a:ext cx="14172881" cy="8048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4603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" r="-37"/>
            </a:stretch>
          </a:blipFill>
        </p:spPr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A648A69D-D1E1-1893-1CB2-7C2AAAB69306}"/>
              </a:ext>
            </a:extLst>
          </p:cNvPr>
          <p:cNvSpPr txBox="1"/>
          <p:nvPr/>
        </p:nvSpPr>
        <p:spPr>
          <a:xfrm>
            <a:off x="26232" y="266700"/>
            <a:ext cx="9117767" cy="11816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 dirty="0">
                <a:solidFill>
                  <a:srgbClr val="00285E"/>
                </a:solidFill>
                <a:latin typeface="Arial Bold"/>
              </a:rPr>
              <a:t>Hypothesis testing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1BDED6-666D-CE6C-0FC3-B31B39033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1583" y="3432207"/>
            <a:ext cx="11379501" cy="543945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1">
                <a:extLst>
                  <a:ext uri="{FF2B5EF4-FFF2-40B4-BE49-F238E27FC236}">
                    <a16:creationId xmlns:a16="http://schemas.microsoft.com/office/drawing/2014/main" id="{6719D36B-FE19-93FA-5E91-9F427A6959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01583" y="1514402"/>
                <a:ext cx="11684832" cy="191780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0" tIns="85698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zh-CN" altLang="zh-CN" sz="3600" dirty="0">
                    <a:solidFill>
                      <a:srgbClr val="00285E"/>
                    </a:solidFill>
                    <a:latin typeface="Arial"/>
                  </a:rPr>
                  <a:t>We </a:t>
                </a:r>
                <a:r>
                  <a:rPr lang="en-US" altLang="zh-CN" sz="3600" dirty="0">
                    <a:solidFill>
                      <a:srgbClr val="00285E"/>
                    </a:solidFill>
                    <a:latin typeface="Arial"/>
                  </a:rPr>
                  <a:t>assume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600" b="0" i="1" smtClean="0">
                        <a:solidFill>
                          <a:srgbClr val="00285E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n-US" altLang="zh-CN" sz="3600" dirty="0">
                    <a:solidFill>
                      <a:srgbClr val="00285E"/>
                    </a:solidFill>
                    <a:latin typeface="Arial"/>
                  </a:rPr>
                  <a:t> = 0.01.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3600" dirty="0" err="1">
                    <a:solidFill>
                      <a:srgbClr val="00285E"/>
                    </a:solidFill>
                    <a:latin typeface="Arial"/>
                  </a:rPr>
                  <a:t>P_value</a:t>
                </a:r>
                <a:r>
                  <a:rPr lang="en-US" altLang="zh-CN" sz="3600" dirty="0">
                    <a:solidFill>
                      <a:srgbClr val="00285E"/>
                    </a:solidFill>
                    <a:latin typeface="Arial"/>
                  </a:rPr>
                  <a:t>=</a:t>
                </a:r>
                <a:r>
                  <a:rPr lang="zh-CN" altLang="zh-CN" sz="3600" dirty="0">
                    <a:solidFill>
                      <a:srgbClr val="00285E"/>
                    </a:solidFill>
                    <a:latin typeface="Arial"/>
                  </a:rPr>
                  <a:t>0.00&lt;0.01</a:t>
                </a:r>
                <a:r>
                  <a:rPr lang="en-US" altLang="zh-CN" sz="3600" dirty="0">
                    <a:solidFill>
                      <a:srgbClr val="00285E"/>
                    </a:solidFill>
                    <a:latin typeface="Arial"/>
                  </a:rPr>
                  <a:t>.</a:t>
                </a:r>
                <a:endParaRPr lang="zh-CN" altLang="zh-CN" sz="3600" dirty="0">
                  <a:solidFill>
                    <a:srgbClr val="00285E"/>
                  </a:solidFill>
                  <a:latin typeface="Arial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zh-CN" altLang="zh-CN" sz="3600" dirty="0">
                    <a:solidFill>
                      <a:srgbClr val="00285E"/>
                    </a:solidFill>
                    <a:latin typeface="Arial"/>
                  </a:rPr>
                  <a:t>So, we </a:t>
                </a:r>
                <a:r>
                  <a:rPr lang="en-US" altLang="zh-CN" sz="3600" dirty="0">
                    <a:solidFill>
                      <a:srgbClr val="00285E"/>
                    </a:solidFill>
                    <a:latin typeface="Arial"/>
                  </a:rPr>
                  <a:t>can</a:t>
                </a:r>
                <a:r>
                  <a:rPr lang="zh-CN" altLang="zh-CN" sz="3600" dirty="0">
                    <a:solidFill>
                      <a:srgbClr val="00285E"/>
                    </a:solidFill>
                    <a:latin typeface="Arial"/>
                  </a:rPr>
                  <a:t> </a:t>
                </a:r>
                <a:r>
                  <a:rPr lang="en-US" altLang="zh-CN" sz="3600" dirty="0">
                    <a:solidFill>
                      <a:srgbClr val="00285E"/>
                    </a:solidFill>
                    <a:latin typeface="Arial"/>
                  </a:rPr>
                  <a:t>reject the null hypothesis quite confidently.</a:t>
                </a:r>
                <a:endParaRPr lang="zh-CN" altLang="zh-CN" sz="3600" b="1" dirty="0">
                  <a:solidFill>
                    <a:srgbClr val="00285E"/>
                  </a:solidFill>
                  <a:latin typeface="Arial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zh-CN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Rectangle 1">
                <a:extLst>
                  <a:ext uri="{FF2B5EF4-FFF2-40B4-BE49-F238E27FC236}">
                    <a16:creationId xmlns:a16="http://schemas.microsoft.com/office/drawing/2014/main" id="{6719D36B-FE19-93FA-5E91-9F427A6959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01583" y="1514402"/>
                <a:ext cx="11684832" cy="1917805"/>
              </a:xfrm>
              <a:prstGeom prst="rect">
                <a:avLst/>
              </a:prstGeom>
              <a:blipFill>
                <a:blip r:embed="rId4"/>
                <a:stretch>
                  <a:fillRect l="-2401" t="-2222" b="-539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D39905D7-8D53-1A38-0E6C-7CCA9DF751D3}"/>
              </a:ext>
            </a:extLst>
          </p:cNvPr>
          <p:cNvSpPr txBox="1"/>
          <p:nvPr/>
        </p:nvSpPr>
        <p:spPr>
          <a:xfrm>
            <a:off x="7322671" y="8932997"/>
            <a:ext cx="33373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/>
              <a:t>Permutation test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7118319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" r="-37"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A648A69D-D1E1-1893-1CB2-7C2AAAB69306}"/>
              </a:ext>
            </a:extLst>
          </p:cNvPr>
          <p:cNvSpPr txBox="1"/>
          <p:nvPr/>
        </p:nvSpPr>
        <p:spPr>
          <a:xfrm>
            <a:off x="26232" y="266700"/>
            <a:ext cx="10717967" cy="11816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altLang="zh-CN" sz="7200" dirty="0">
                <a:solidFill>
                  <a:srgbClr val="00285E"/>
                </a:solidFill>
                <a:latin typeface="Arial Bold"/>
              </a:rPr>
              <a:t>Predictive model</a:t>
            </a:r>
            <a:endParaRPr lang="en-US" sz="7200" dirty="0">
              <a:solidFill>
                <a:srgbClr val="00285E"/>
              </a:solidFill>
              <a:latin typeface="Arial Bold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76695F-6C84-7C98-B3B9-D68E6E3C9337}"/>
              </a:ext>
            </a:extLst>
          </p:cNvPr>
          <p:cNvSpPr txBox="1"/>
          <p:nvPr/>
        </p:nvSpPr>
        <p:spPr>
          <a:xfrm>
            <a:off x="838200" y="1574560"/>
            <a:ext cx="165470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00285E"/>
                </a:solidFill>
                <a:latin typeface="Arial"/>
              </a:rPr>
              <a:t>Sleep Duration = -0.00326 * (Age) -0.36746 * (Stress Level) + 0.007286 * (Activity Level) </a:t>
            </a:r>
            <a:endParaRPr lang="zh-CN" altLang="en-US" sz="3200" dirty="0"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292C5558-B9F2-081F-657B-769EEAA700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1988" y="7218704"/>
            <a:ext cx="2806700" cy="2760772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7D9ABC33-D203-EFBB-EC28-ABED505DF6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1179" y="4073255"/>
            <a:ext cx="3026471" cy="1884616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DCFB067B-6095-D3A2-A0D2-6DDDFA6400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43250" y="3110660"/>
            <a:ext cx="3591224" cy="2124807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C1E649A9-6DC7-F350-8B7F-165235B9F4C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5355" t="9180" b="6000"/>
          <a:stretch/>
        </p:blipFill>
        <p:spPr>
          <a:xfrm>
            <a:off x="15059891" y="5989044"/>
            <a:ext cx="3016468" cy="1889174"/>
          </a:xfrm>
          <a:prstGeom prst="rect">
            <a:avLst/>
          </a:prstGeom>
        </p:spPr>
      </p:pic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79E9267F-4246-F8AD-9D57-A09F5DF8AD53}"/>
              </a:ext>
            </a:extLst>
          </p:cNvPr>
          <p:cNvCxnSpPr/>
          <p:nvPr/>
        </p:nvCxnSpPr>
        <p:spPr>
          <a:xfrm>
            <a:off x="10972800" y="6224136"/>
            <a:ext cx="685800" cy="12815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837D4C73-8D54-50BC-AD30-5EC3BA4854C5}"/>
              </a:ext>
            </a:extLst>
          </p:cNvPr>
          <p:cNvCxnSpPr>
            <a:cxnSpLocks/>
          </p:cNvCxnSpPr>
          <p:nvPr/>
        </p:nvCxnSpPr>
        <p:spPr>
          <a:xfrm flipH="1">
            <a:off x="13400540" y="5372100"/>
            <a:ext cx="617866" cy="1575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481C4D7C-B2BA-349C-82D2-74D828F28887}"/>
              </a:ext>
            </a:extLst>
          </p:cNvPr>
          <p:cNvCxnSpPr>
            <a:cxnSpLocks/>
          </p:cNvCxnSpPr>
          <p:nvPr/>
        </p:nvCxnSpPr>
        <p:spPr>
          <a:xfrm flipH="1">
            <a:off x="14401800" y="7962900"/>
            <a:ext cx="1600200" cy="6361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图片 45">
            <a:extLst>
              <a:ext uri="{FF2B5EF4-FFF2-40B4-BE49-F238E27FC236}">
                <a16:creationId xmlns:a16="http://schemas.microsoft.com/office/drawing/2014/main" id="{0C1B2992-148B-878D-90BA-2BE00D91460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320" y="2285589"/>
            <a:ext cx="5749694" cy="7438266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38485D92-6875-91FB-FA1D-77DA9A4872E3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61"/>
          <a:stretch/>
        </p:blipFill>
        <p:spPr>
          <a:xfrm>
            <a:off x="1446320" y="9598858"/>
            <a:ext cx="1273183" cy="687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1120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7" r="-37"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A648A69D-D1E1-1893-1CB2-7C2AAAB69306}"/>
              </a:ext>
            </a:extLst>
          </p:cNvPr>
          <p:cNvSpPr txBox="1"/>
          <p:nvPr/>
        </p:nvSpPr>
        <p:spPr>
          <a:xfrm>
            <a:off x="26232" y="266700"/>
            <a:ext cx="10717967" cy="11816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altLang="zh-CN" sz="7200" dirty="0">
                <a:solidFill>
                  <a:srgbClr val="00285E"/>
                </a:solidFill>
                <a:latin typeface="Arial Bold"/>
              </a:rPr>
              <a:t>Predictive model</a:t>
            </a:r>
            <a:endParaRPr lang="en-US" sz="7200" dirty="0">
              <a:solidFill>
                <a:srgbClr val="00285E"/>
              </a:solidFill>
              <a:latin typeface="Arial Bold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76695F-6C84-7C98-B3B9-D68E6E3C9337}"/>
              </a:ext>
            </a:extLst>
          </p:cNvPr>
          <p:cNvSpPr txBox="1"/>
          <p:nvPr/>
        </p:nvSpPr>
        <p:spPr>
          <a:xfrm>
            <a:off x="838200" y="1574560"/>
            <a:ext cx="165470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00285E"/>
                </a:solidFill>
                <a:latin typeface="Arial"/>
              </a:rPr>
              <a:t>Sleep Duration = -0.00326 * (Age) -0.36746 * (Stress Level) + 0.007286 * (Activity Level) </a:t>
            </a:r>
            <a:endParaRPr lang="zh-CN" altLang="en-US" sz="32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120392A-284E-4140-9073-74D0CA6806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2552700"/>
            <a:ext cx="7799029" cy="7290208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1BBBE12E-4E22-44B3-93EF-68E45E5B15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4831" y="2285589"/>
            <a:ext cx="3314270" cy="4287606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2AB19606-43E9-18C4-A31E-82CA5CE0A98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1966" y="4798065"/>
            <a:ext cx="6019356" cy="2705605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0BBF8D5D-18BF-CE64-FEEE-C9A3362EF91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1967" y="2159335"/>
            <a:ext cx="6010590" cy="2708287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E10456E8-AEE1-D508-6E2F-E52CF7F885A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0" y="7452049"/>
            <a:ext cx="6025322" cy="2708287"/>
          </a:xfrm>
          <a:prstGeom prst="rect">
            <a:avLst/>
          </a:prstGeom>
        </p:spPr>
      </p:pic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5B01765-23DD-B46B-E757-C743E1B954C4}"/>
              </a:ext>
            </a:extLst>
          </p:cNvPr>
          <p:cNvSpPr/>
          <p:nvPr/>
        </p:nvSpPr>
        <p:spPr>
          <a:xfrm>
            <a:off x="6400800" y="6573195"/>
            <a:ext cx="1447800" cy="878854"/>
          </a:xfrm>
          <a:prstGeom prst="round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671753C-FA80-FF1B-126D-B580FA31A2B2}"/>
              </a:ext>
            </a:extLst>
          </p:cNvPr>
          <p:cNvSpPr/>
          <p:nvPr/>
        </p:nvSpPr>
        <p:spPr>
          <a:xfrm>
            <a:off x="5419851" y="8366765"/>
            <a:ext cx="3445978" cy="1649380"/>
          </a:xfrm>
          <a:prstGeom prst="round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46B45B4-5DEA-DD6D-6E26-26B2C1B9E3B9}"/>
              </a:ext>
            </a:extLst>
          </p:cNvPr>
          <p:cNvSpPr/>
          <p:nvPr/>
        </p:nvSpPr>
        <p:spPr>
          <a:xfrm>
            <a:off x="929660" y="4264646"/>
            <a:ext cx="2499340" cy="602976"/>
          </a:xfrm>
          <a:prstGeom prst="round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58156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" r="-37"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A648A69D-D1E1-1893-1CB2-7C2AAAB69306}"/>
              </a:ext>
            </a:extLst>
          </p:cNvPr>
          <p:cNvSpPr txBox="1"/>
          <p:nvPr/>
        </p:nvSpPr>
        <p:spPr>
          <a:xfrm>
            <a:off x="26232" y="266700"/>
            <a:ext cx="10717967" cy="11816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altLang="zh-CN" sz="7200" dirty="0">
                <a:solidFill>
                  <a:srgbClr val="00285E"/>
                </a:solidFill>
                <a:latin typeface="Arial Bold"/>
              </a:rPr>
              <a:t>Predictive model</a:t>
            </a:r>
            <a:endParaRPr lang="en-US" sz="7200" dirty="0">
              <a:solidFill>
                <a:srgbClr val="00285E"/>
              </a:solidFill>
              <a:latin typeface="Arial Bold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76695F-6C84-7C98-B3B9-D68E6E3C9337}"/>
              </a:ext>
            </a:extLst>
          </p:cNvPr>
          <p:cNvSpPr txBox="1"/>
          <p:nvPr/>
        </p:nvSpPr>
        <p:spPr>
          <a:xfrm>
            <a:off x="838200" y="1574560"/>
            <a:ext cx="165470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00285E"/>
                </a:solidFill>
                <a:latin typeface="Arial"/>
              </a:rPr>
              <a:t>Sleep Duration = -0.00326 * (Age) -0.36746 * (Stress Level) + 0.007286 * (Activity Level) </a:t>
            </a:r>
            <a:endParaRPr lang="zh-CN" altLang="en-US" sz="32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2977ADA-7720-8CDF-30A5-C9A7564662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6820" y="5867652"/>
            <a:ext cx="7497286" cy="341787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377D4FF-9C27-0920-A1B7-E249B219C7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855" y="2285589"/>
            <a:ext cx="7475469" cy="3417879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F72A9F3D-9739-C4B6-AD45-6FB4D6548F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294163"/>
            <a:ext cx="7475469" cy="3417879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F35251C2-0CF8-1012-C01B-CD87CB9DEF53}"/>
              </a:ext>
            </a:extLst>
          </p:cNvPr>
          <p:cNvSpPr txBox="1"/>
          <p:nvPr/>
        </p:nvSpPr>
        <p:spPr>
          <a:xfrm>
            <a:off x="838200" y="8010723"/>
            <a:ext cx="92964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· No outlier</a:t>
            </a:r>
          </a:p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	No high leverage point</a:t>
            </a:r>
          </a:p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	Inside +/- 3 std</a:t>
            </a:r>
          </a:p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· No multicollinearity (|pairwise correlation|&lt;0.7)</a:t>
            </a:r>
            <a:endParaRPr lang="zh-CN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A44134F-C4F0-B432-E844-6F57BF34E5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511" y="6495880"/>
            <a:ext cx="7591425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5611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" r="-37"/>
            </a:stretch>
          </a:blipFill>
        </p:spPr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A648A69D-D1E1-1893-1CB2-7C2AAAB69306}"/>
              </a:ext>
            </a:extLst>
          </p:cNvPr>
          <p:cNvSpPr txBox="1"/>
          <p:nvPr/>
        </p:nvSpPr>
        <p:spPr>
          <a:xfrm>
            <a:off x="533400" y="342900"/>
            <a:ext cx="5181600" cy="11816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 dirty="0">
                <a:solidFill>
                  <a:srgbClr val="00285E"/>
                </a:solidFill>
                <a:latin typeface="Arial Bold"/>
              </a:rPr>
              <a:t>Conclusion</a:t>
            </a:r>
          </a:p>
        </p:txBody>
      </p:sp>
      <p:sp>
        <p:nvSpPr>
          <p:cNvPr id="22" name="TextBox 4">
            <a:extLst>
              <a:ext uri="{FF2B5EF4-FFF2-40B4-BE49-F238E27FC236}">
                <a16:creationId xmlns:a16="http://schemas.microsoft.com/office/drawing/2014/main" id="{2DFD1D24-EC6F-1F83-437C-C6C1EA9EB1A6}"/>
              </a:ext>
            </a:extLst>
          </p:cNvPr>
          <p:cNvSpPr txBox="1"/>
          <p:nvPr/>
        </p:nvSpPr>
        <p:spPr>
          <a:xfrm>
            <a:off x="533400" y="1524506"/>
            <a:ext cx="17068800" cy="100311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4400" dirty="0">
                <a:solidFill>
                  <a:srgbClr val="00285E"/>
                </a:solidFill>
                <a:latin typeface="Arial"/>
              </a:rPr>
              <a:t>· </a:t>
            </a:r>
            <a:r>
              <a:rPr lang="en-US" sz="4400" dirty="0">
                <a:solidFill>
                  <a:srgbClr val="00285E"/>
                </a:solidFill>
                <a:latin typeface="Arial"/>
              </a:rPr>
              <a:t>Interesting findings: Engineers have a relatively long sleep.</a:t>
            </a:r>
          </a:p>
          <a:p>
            <a:pPr>
              <a:lnSpc>
                <a:spcPct val="200000"/>
              </a:lnSpc>
            </a:pPr>
            <a:r>
              <a:rPr lang="en-US" altLang="zh-CN" sz="4400" dirty="0">
                <a:solidFill>
                  <a:srgbClr val="00285E"/>
                </a:solidFill>
                <a:latin typeface="Arial"/>
              </a:rPr>
              <a:t>· Sleep duration has some specific relationship to sleep quality, age, sex, occupation and stress level. </a:t>
            </a:r>
          </a:p>
          <a:p>
            <a:pPr>
              <a:lnSpc>
                <a:spcPct val="200000"/>
              </a:lnSpc>
            </a:pPr>
            <a:r>
              <a:rPr lang="en-US" altLang="zh-CN" sz="4400" dirty="0">
                <a:solidFill>
                  <a:srgbClr val="00285E"/>
                </a:solidFill>
                <a:latin typeface="Arial"/>
              </a:rPr>
              <a:t>· Hypothesis test result: People with higher BMI tend to sleep less.</a:t>
            </a:r>
          </a:p>
          <a:p>
            <a:pPr>
              <a:lnSpc>
                <a:spcPct val="200000"/>
              </a:lnSpc>
            </a:pPr>
            <a:r>
              <a:rPr lang="en-US" altLang="zh-CN" sz="4400" dirty="0">
                <a:solidFill>
                  <a:srgbClr val="00285E"/>
                </a:solidFill>
                <a:latin typeface="Arial"/>
              </a:rPr>
              <a:t>· Sleep duration can be predicted by calculating three elements (age, physical activity level, and stress level).</a:t>
            </a:r>
          </a:p>
          <a:p>
            <a:pPr>
              <a:lnSpc>
                <a:spcPct val="150000"/>
              </a:lnSpc>
            </a:pPr>
            <a:endParaRPr lang="en-US" sz="4400" dirty="0">
              <a:solidFill>
                <a:srgbClr val="00285E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lang="en-US" sz="4400" dirty="0">
              <a:solidFill>
                <a:srgbClr val="00285E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314811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927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" r="-37"/>
            </a:stretch>
          </a:blipFill>
        </p:spPr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A648A69D-D1E1-1893-1CB2-7C2AAAB69306}"/>
              </a:ext>
            </a:extLst>
          </p:cNvPr>
          <p:cNvSpPr txBox="1"/>
          <p:nvPr/>
        </p:nvSpPr>
        <p:spPr>
          <a:xfrm>
            <a:off x="533400" y="342900"/>
            <a:ext cx="5181600" cy="11816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 dirty="0">
                <a:solidFill>
                  <a:srgbClr val="00285E"/>
                </a:solidFill>
                <a:latin typeface="Arial Bold"/>
              </a:rPr>
              <a:t>Conclusion</a:t>
            </a:r>
          </a:p>
        </p:txBody>
      </p:sp>
      <p:sp>
        <p:nvSpPr>
          <p:cNvPr id="22" name="TextBox 4">
            <a:extLst>
              <a:ext uri="{FF2B5EF4-FFF2-40B4-BE49-F238E27FC236}">
                <a16:creationId xmlns:a16="http://schemas.microsoft.com/office/drawing/2014/main" id="{2DFD1D24-EC6F-1F83-437C-C6C1EA9EB1A6}"/>
              </a:ext>
            </a:extLst>
          </p:cNvPr>
          <p:cNvSpPr txBox="1"/>
          <p:nvPr/>
        </p:nvSpPr>
        <p:spPr>
          <a:xfrm>
            <a:off x="838200" y="2019300"/>
            <a:ext cx="17068800" cy="49528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4400" dirty="0">
                <a:solidFill>
                  <a:srgbClr val="00285E"/>
                </a:solidFill>
                <a:latin typeface="Arial"/>
              </a:rPr>
              <a:t>Suggestions:</a:t>
            </a:r>
          </a:p>
          <a:p>
            <a:pPr>
              <a:lnSpc>
                <a:spcPct val="150000"/>
              </a:lnSpc>
            </a:pPr>
            <a:r>
              <a:rPr lang="en-US" sz="4400" dirty="0">
                <a:solidFill>
                  <a:srgbClr val="00285E"/>
                </a:solidFill>
                <a:latin typeface="Arial"/>
              </a:rPr>
              <a:t>	Ease your stress to sleep longer!</a:t>
            </a:r>
          </a:p>
          <a:p>
            <a:pPr>
              <a:lnSpc>
                <a:spcPct val="150000"/>
              </a:lnSpc>
            </a:pPr>
            <a:r>
              <a:rPr lang="en-US" sz="4400" dirty="0">
                <a:solidFill>
                  <a:srgbClr val="00285E"/>
                </a:solidFill>
                <a:latin typeface="Arial"/>
              </a:rPr>
              <a:t>	Take more physical activities!</a:t>
            </a:r>
          </a:p>
          <a:p>
            <a:pPr>
              <a:lnSpc>
                <a:spcPct val="150000"/>
              </a:lnSpc>
            </a:pPr>
            <a:r>
              <a:rPr lang="en-US" altLang="zh-CN" sz="4400" dirty="0">
                <a:solidFill>
                  <a:srgbClr val="00285E"/>
                </a:solidFill>
                <a:latin typeface="Arial"/>
              </a:rPr>
              <a:t>	</a:t>
            </a:r>
            <a:r>
              <a:rPr lang="en-US" altLang="zh-CN" sz="4400" strike="sngStrike" dirty="0">
                <a:solidFill>
                  <a:srgbClr val="00285E"/>
                </a:solidFill>
                <a:latin typeface="Arial"/>
              </a:rPr>
              <a:t>If you want to sleep longer, be an engineer.</a:t>
            </a:r>
          </a:p>
          <a:p>
            <a:pPr>
              <a:lnSpc>
                <a:spcPct val="150000"/>
              </a:lnSpc>
            </a:pPr>
            <a:endParaRPr lang="en-US" sz="4400" dirty="0">
              <a:solidFill>
                <a:srgbClr val="00285E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224049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" r="-37"/>
            </a:stretch>
          </a:blipFill>
        </p:spPr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A648A69D-D1E1-1893-1CB2-7C2AAAB69306}"/>
              </a:ext>
            </a:extLst>
          </p:cNvPr>
          <p:cNvSpPr txBox="1"/>
          <p:nvPr/>
        </p:nvSpPr>
        <p:spPr>
          <a:xfrm>
            <a:off x="533400" y="342900"/>
            <a:ext cx="5181600" cy="11816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 dirty="0">
                <a:solidFill>
                  <a:srgbClr val="00285E"/>
                </a:solidFill>
                <a:latin typeface="Arial Bold"/>
              </a:rPr>
              <a:t>References</a:t>
            </a:r>
          </a:p>
        </p:txBody>
      </p:sp>
      <p:sp>
        <p:nvSpPr>
          <p:cNvPr id="22" name="TextBox 4">
            <a:extLst>
              <a:ext uri="{FF2B5EF4-FFF2-40B4-BE49-F238E27FC236}">
                <a16:creationId xmlns:a16="http://schemas.microsoft.com/office/drawing/2014/main" id="{2DFD1D24-EC6F-1F83-437C-C6C1EA9EB1A6}"/>
              </a:ext>
            </a:extLst>
          </p:cNvPr>
          <p:cNvSpPr txBox="1"/>
          <p:nvPr/>
        </p:nvSpPr>
        <p:spPr>
          <a:xfrm>
            <a:off x="609600" y="2552700"/>
            <a:ext cx="14935200" cy="11122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806" dirty="0">
                <a:solidFill>
                  <a:srgbClr val="00285E"/>
                </a:solidFill>
                <a:latin typeface="Arial"/>
              </a:rPr>
              <a:t>[1] </a:t>
            </a:r>
            <a:r>
              <a:rPr lang="en-US" altLang="zh-CN" sz="5400" dirty="0">
                <a:hlinkClick r:id="rId3"/>
              </a:rPr>
              <a:t>Sleep Health and Lifestyle Dataset (kaggle.com)</a:t>
            </a:r>
            <a:endParaRPr lang="en-US" sz="4806" dirty="0">
              <a:solidFill>
                <a:srgbClr val="00285E"/>
              </a:solidFill>
              <a:latin typeface="Arial"/>
            </a:endParaRPr>
          </a:p>
        </p:txBody>
      </p:sp>
      <p:sp>
        <p:nvSpPr>
          <p:cNvPr id="3" name="Freeform 8">
            <a:extLst>
              <a:ext uri="{FF2B5EF4-FFF2-40B4-BE49-F238E27FC236}">
                <a16:creationId xmlns:a16="http://schemas.microsoft.com/office/drawing/2014/main" id="{24A9C31B-C264-E736-3592-DC1FC5EC1448}"/>
              </a:ext>
            </a:extLst>
          </p:cNvPr>
          <p:cNvSpPr/>
          <p:nvPr/>
        </p:nvSpPr>
        <p:spPr>
          <a:xfrm>
            <a:off x="14246352" y="0"/>
            <a:ext cx="4041648" cy="1188720"/>
          </a:xfrm>
          <a:custGeom>
            <a:avLst/>
            <a:gdLst/>
            <a:ahLst/>
            <a:cxnLst/>
            <a:rect l="l" t="t" r="r" b="b"/>
            <a:pathLst>
              <a:path w="4041648" h="1188720">
                <a:moveTo>
                  <a:pt x="0" y="0"/>
                </a:moveTo>
                <a:lnTo>
                  <a:pt x="4041648" y="0"/>
                </a:lnTo>
                <a:lnTo>
                  <a:pt x="4041648" y="1188720"/>
                </a:lnTo>
                <a:lnTo>
                  <a:pt x="0" y="11887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4563958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A294BEC-4F1D-4637-66AA-60A974E7BD6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" r="-37"/>
            </a:stretch>
          </a:blipFill>
        </p:spPr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id="{CE446BBC-D44C-82F4-5D37-61A749888942}"/>
              </a:ext>
            </a:extLst>
          </p:cNvPr>
          <p:cNvSpPr/>
          <p:nvPr/>
        </p:nvSpPr>
        <p:spPr>
          <a:xfrm>
            <a:off x="14246352" y="0"/>
            <a:ext cx="4041648" cy="1188720"/>
          </a:xfrm>
          <a:custGeom>
            <a:avLst/>
            <a:gdLst/>
            <a:ahLst/>
            <a:cxnLst/>
            <a:rect l="l" t="t" r="r" b="b"/>
            <a:pathLst>
              <a:path w="4041648" h="1188720">
                <a:moveTo>
                  <a:pt x="0" y="0"/>
                </a:moveTo>
                <a:lnTo>
                  <a:pt x="4041648" y="0"/>
                </a:lnTo>
                <a:lnTo>
                  <a:pt x="4041648" y="1188720"/>
                </a:lnTo>
                <a:lnTo>
                  <a:pt x="0" y="1188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9691131-946B-B8A3-0C80-D11817EF143E}"/>
              </a:ext>
            </a:extLst>
          </p:cNvPr>
          <p:cNvSpPr/>
          <p:nvPr/>
        </p:nvSpPr>
        <p:spPr>
          <a:xfrm>
            <a:off x="2171700" y="3791943"/>
            <a:ext cx="13944600" cy="12972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altLang="zh-CN" sz="8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 Bold"/>
              </a:rPr>
              <a:t>Hope everyone sleep well!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D50FA1E-B63D-E3FA-D3C7-F3716DC45A2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6800" y="5753100"/>
            <a:ext cx="3200878" cy="295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816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2607</TotalTime>
  <Words>705</Words>
  <Application>Microsoft Office PowerPoint</Application>
  <PresentationFormat>自定义</PresentationFormat>
  <Paragraphs>93</Paragraphs>
  <Slides>21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7" baseType="lpstr">
      <vt:lpstr>Cambria Math</vt:lpstr>
      <vt:lpstr>Arial</vt:lpstr>
      <vt:lpstr>Calibri</vt:lpstr>
      <vt:lpstr>Arial Bold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Aris</dc:title>
  <cp:lastModifiedBy>拙孝 张</cp:lastModifiedBy>
  <cp:revision>71</cp:revision>
  <dcterms:created xsi:type="dcterms:W3CDTF">2006-08-16T00:00:00Z</dcterms:created>
  <dcterms:modified xsi:type="dcterms:W3CDTF">2024-04-24T06:01:52Z</dcterms:modified>
  <dc:identifier>DAGBXYvKHaU</dc:identifier>
</cp:coreProperties>
</file>